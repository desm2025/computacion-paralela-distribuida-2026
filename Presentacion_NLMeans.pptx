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6" d="100"/>
          <a:sy n="146"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45033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Título. Presentar el proyecto brevemente. Mencionar que implementamos NLM-C en 3 versiones paralelas y comparamos su rendimiento.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Motivación. El ruido Gaussiano es un problema real. NLM-C es mejor que filtros simples pero muy costoso: 1.120M ops/frame hace inviable la versión secuencial.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Datos. Video urbano 1280x560 con ruido artificial. Hardware: RTX 4060. Parámetros idénticos en las 3 versiones para comparación justa.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Línea base OpenMP. 5.591 ms por frame con 16 hilos. Funciona bien pero está limitado por hardware de propósito general. Este es nuestro punto de referencia.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Las 3 estrategias. CPU: 16 hilos distribuyen el trabajo por filas. GPU Global: 3072 threads, uno por píxel — todos al mismo tiempo. GPU Shared: igual pero carga la región en memoria interna antes de calcular. Resultado: Global es el más rápido.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Implementación. Mostrar el árbol del repositorio y explicar las decisiones clave. El foco no es el código sino las decisiones de diseño.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Diseño experimental. Las 3 versiones se ejecutaron en condiciones idénticas. El tiempo CPU incluye overhead de hilos, el GPU excluye transferencias.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Resultados principales. GPU Global es el mejor: 43.2x speedup. GPU Shared es 36% más lenta que Global a pesar de usar memoria compartida — ese es el hallazgo principal.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Análisis. El hallazgo clave es que shared memory fue más lenta. La razón: ocupa casi todo el espacio del multiprocesador, dejando solo 1 grupo activo. Sin múltiples grupos, la GPU no puede ocultar las latencias de memoria — ese mecanismo es lo que la hace eficiente.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Limitaciones. Estas no invalidan los resultados, sino que los contextualizan. El speedup real podría ser mayor o menor según el contexto de uso.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Conclusiones. 3 mensajes clave: GPU funciona muy bien para este tipo de problema, shared memory puede ser contraproducente, y el proyecto demostró los conceptos del ramo con evidencia experimental.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1188720"/>
            <a:ext cx="8229600" cy="1554480"/>
          </a:xfrm>
          <a:prstGeom prst="roundRect">
            <a:avLst>
              <a:gd name="adj" fmla="val 4706"/>
            </a:avLst>
          </a:prstGeom>
          <a:solidFill>
            <a:srgbClr val="1E2A48"/>
          </a:solidFill>
          <a:ln/>
          <a:effectLst>
            <a:outerShdw blurRad="101600" dist="38100" dir="2700000" algn="bl" rotWithShape="0">
              <a:srgbClr val="000000">
                <a:alpha val="25000"/>
              </a:srgbClr>
            </a:outerShdw>
          </a:effectLst>
        </p:spPr>
        <p:txBody>
          <a:bodyPr/>
          <a:lstStyle/>
          <a:p>
            <a:endParaRPr lang="es-ES"/>
          </a:p>
        </p:txBody>
      </p:sp>
      <p:sp>
        <p:nvSpPr>
          <p:cNvPr id="4" name="Text 1"/>
          <p:cNvSpPr/>
          <p:nvPr/>
        </p:nvSpPr>
        <p:spPr>
          <a:xfrm>
            <a:off x="640080" y="1325880"/>
            <a:ext cx="7863840" cy="640080"/>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Paralelización del Filtro NLM-C para Video</a:t>
            </a:r>
            <a:endParaRPr lang="en-US" sz="3000" dirty="0"/>
          </a:p>
        </p:txBody>
      </p:sp>
      <p:sp>
        <p:nvSpPr>
          <p:cNvPr id="5" name="Text 2"/>
          <p:cNvSpPr/>
          <p:nvPr/>
        </p:nvSpPr>
        <p:spPr>
          <a:xfrm>
            <a:off x="640080" y="2011680"/>
            <a:ext cx="7863840" cy="320040"/>
          </a:xfrm>
          <a:prstGeom prst="rect">
            <a:avLst/>
          </a:prstGeom>
          <a:noFill/>
          <a:ln/>
        </p:spPr>
        <p:txBody>
          <a:bodyPr wrap="square" lIns="0" tIns="0" rIns="0" bIns="0" rtlCol="0" anchor="ctr"/>
          <a:lstStyle/>
          <a:p>
            <a:pPr marL="0" indent="0" algn="ctr">
              <a:buNone/>
            </a:pPr>
            <a:r>
              <a:rPr lang="en-US" sz="1400" dirty="0">
                <a:solidFill>
                  <a:srgbClr val="22D3EE"/>
                </a:solidFill>
                <a:latin typeface="Calibri" pitchFamily="34" charset="0"/>
                <a:ea typeface="Calibri" pitchFamily="34" charset="-122"/>
                <a:cs typeface="Calibri" pitchFamily="34" charset="-120"/>
              </a:rPr>
              <a:t>CPU OpenMP  ·  GPU CUDA Global  ·  GPU CUDA Shared Memory</a:t>
            </a:r>
            <a:endParaRPr lang="en-US" sz="1400" dirty="0"/>
          </a:p>
        </p:txBody>
      </p:sp>
      <p:sp>
        <p:nvSpPr>
          <p:cNvPr id="6" name="Shape 3"/>
          <p:cNvSpPr/>
          <p:nvPr/>
        </p:nvSpPr>
        <p:spPr>
          <a:xfrm>
            <a:off x="1371600" y="2971800"/>
            <a:ext cx="2011680" cy="411480"/>
          </a:xfrm>
          <a:prstGeom prst="roundRect">
            <a:avLst>
              <a:gd name="adj" fmla="val 26667"/>
            </a:avLst>
          </a:prstGeom>
          <a:solidFill>
            <a:srgbClr val="3B82F6">
              <a:alpha val="25000"/>
            </a:srgbClr>
          </a:solidFill>
          <a:ln/>
        </p:spPr>
        <p:txBody>
          <a:bodyPr/>
          <a:lstStyle/>
          <a:p>
            <a:endParaRPr lang="es-ES"/>
          </a:p>
        </p:txBody>
      </p:sp>
      <p:sp>
        <p:nvSpPr>
          <p:cNvPr id="7" name="Text 4"/>
          <p:cNvSpPr/>
          <p:nvPr/>
        </p:nvSpPr>
        <p:spPr>
          <a:xfrm>
            <a:off x="1371600" y="2971800"/>
            <a:ext cx="2011680" cy="411480"/>
          </a:xfrm>
          <a:prstGeom prst="rect">
            <a:avLst/>
          </a:prstGeom>
          <a:noFill/>
          <a:ln/>
        </p:spPr>
        <p:txBody>
          <a:bodyPr wrap="square" lIns="0" tIns="0" rIns="0" bIns="0" rtlCol="0" anchor="ctr"/>
          <a:lstStyle/>
          <a:p>
            <a:pPr marL="0" indent="0" algn="ctr">
              <a:buNone/>
            </a:pPr>
            <a:r>
              <a:rPr lang="en-US" sz="1200" b="1" dirty="0">
                <a:solidFill>
                  <a:srgbClr val="3B82F6"/>
                </a:solidFill>
                <a:latin typeface="Calibri" pitchFamily="34" charset="0"/>
                <a:ea typeface="Calibri" pitchFamily="34" charset="-122"/>
                <a:cs typeface="Calibri" pitchFamily="34" charset="-120"/>
              </a:rPr>
              <a:t>CPU OpenMP</a:t>
            </a:r>
            <a:endParaRPr lang="en-US" sz="1200" dirty="0"/>
          </a:p>
        </p:txBody>
      </p:sp>
      <p:sp>
        <p:nvSpPr>
          <p:cNvPr id="8" name="Shape 5"/>
          <p:cNvSpPr/>
          <p:nvPr/>
        </p:nvSpPr>
        <p:spPr>
          <a:xfrm>
            <a:off x="3657600" y="2971800"/>
            <a:ext cx="2011680" cy="411480"/>
          </a:xfrm>
          <a:prstGeom prst="roundRect">
            <a:avLst>
              <a:gd name="adj" fmla="val 26667"/>
            </a:avLst>
          </a:prstGeom>
          <a:solidFill>
            <a:srgbClr val="10B981">
              <a:alpha val="25000"/>
            </a:srgbClr>
          </a:solidFill>
          <a:ln/>
        </p:spPr>
        <p:txBody>
          <a:bodyPr/>
          <a:lstStyle/>
          <a:p>
            <a:endParaRPr lang="es-ES"/>
          </a:p>
        </p:txBody>
      </p:sp>
      <p:sp>
        <p:nvSpPr>
          <p:cNvPr id="9" name="Text 6"/>
          <p:cNvSpPr/>
          <p:nvPr/>
        </p:nvSpPr>
        <p:spPr>
          <a:xfrm>
            <a:off x="3657600" y="2971800"/>
            <a:ext cx="2011680" cy="411480"/>
          </a:xfrm>
          <a:prstGeom prst="rect">
            <a:avLst/>
          </a:prstGeom>
          <a:noFill/>
          <a:ln/>
        </p:spPr>
        <p:txBody>
          <a:bodyPr wrap="square" lIns="0" tIns="0" rIns="0" bIns="0" rtlCol="0" anchor="ctr"/>
          <a:lstStyle/>
          <a:p>
            <a:pPr marL="0" indent="0" algn="ctr">
              <a:buNone/>
            </a:pPr>
            <a:r>
              <a:rPr lang="en-US" sz="1200" b="1" dirty="0">
                <a:solidFill>
                  <a:srgbClr val="10B981"/>
                </a:solidFill>
                <a:latin typeface="Calibri" pitchFamily="34" charset="0"/>
                <a:ea typeface="Calibri" pitchFamily="34" charset="-122"/>
                <a:cs typeface="Calibri" pitchFamily="34" charset="-120"/>
              </a:rPr>
              <a:t>GPU Global</a:t>
            </a:r>
            <a:endParaRPr lang="en-US" sz="1200" dirty="0"/>
          </a:p>
        </p:txBody>
      </p:sp>
      <p:sp>
        <p:nvSpPr>
          <p:cNvPr id="10" name="Shape 7"/>
          <p:cNvSpPr/>
          <p:nvPr/>
        </p:nvSpPr>
        <p:spPr>
          <a:xfrm>
            <a:off x="5943600" y="2971800"/>
            <a:ext cx="2011680" cy="411480"/>
          </a:xfrm>
          <a:prstGeom prst="roundRect">
            <a:avLst>
              <a:gd name="adj" fmla="val 26667"/>
            </a:avLst>
          </a:prstGeom>
          <a:solidFill>
            <a:srgbClr val="A78BFA">
              <a:alpha val="25000"/>
            </a:srgbClr>
          </a:solidFill>
          <a:ln/>
        </p:spPr>
        <p:txBody>
          <a:bodyPr/>
          <a:lstStyle/>
          <a:p>
            <a:endParaRPr lang="es-ES"/>
          </a:p>
        </p:txBody>
      </p:sp>
      <p:sp>
        <p:nvSpPr>
          <p:cNvPr id="11" name="Text 8"/>
          <p:cNvSpPr/>
          <p:nvPr/>
        </p:nvSpPr>
        <p:spPr>
          <a:xfrm>
            <a:off x="5943600" y="2971800"/>
            <a:ext cx="2011680" cy="411480"/>
          </a:xfrm>
          <a:prstGeom prst="rect">
            <a:avLst/>
          </a:prstGeom>
          <a:noFill/>
          <a:ln/>
        </p:spPr>
        <p:txBody>
          <a:bodyPr wrap="square" lIns="0" tIns="0" rIns="0" bIns="0" rtlCol="0" anchor="ctr"/>
          <a:lstStyle/>
          <a:p>
            <a:pPr marL="0" indent="0" algn="ctr">
              <a:buNone/>
            </a:pPr>
            <a:r>
              <a:rPr lang="en-US" sz="1200" b="1" dirty="0">
                <a:solidFill>
                  <a:srgbClr val="A78BFA"/>
                </a:solidFill>
                <a:latin typeface="Calibri" pitchFamily="34" charset="0"/>
                <a:ea typeface="Calibri" pitchFamily="34" charset="-122"/>
                <a:cs typeface="Calibri" pitchFamily="34" charset="-120"/>
              </a:rPr>
              <a:t>GPU Shared</a:t>
            </a:r>
            <a:endParaRPr lang="en-US" sz="1200" dirty="0"/>
          </a:p>
        </p:txBody>
      </p:sp>
      <p:sp>
        <p:nvSpPr>
          <p:cNvPr id="12" name="Text 9"/>
          <p:cNvSpPr/>
          <p:nvPr/>
        </p:nvSpPr>
        <p:spPr>
          <a:xfrm>
            <a:off x="457200" y="3657600"/>
            <a:ext cx="8229600" cy="256032"/>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Diego Silva Madariaga  ·  Pablo Ibáñez</a:t>
            </a:r>
            <a:endParaRPr lang="en-US" sz="1200" dirty="0"/>
          </a:p>
        </p:txBody>
      </p:sp>
      <p:sp>
        <p:nvSpPr>
          <p:cNvPr id="13" name="Text 10"/>
          <p:cNvSpPr/>
          <p:nvPr/>
        </p:nvSpPr>
        <p:spPr>
          <a:xfrm>
            <a:off x="457200" y="3950208"/>
            <a:ext cx="8229600" cy="228600"/>
          </a:xfrm>
          <a:prstGeom prst="rect">
            <a:avLst/>
          </a:prstGeom>
          <a:noFill/>
          <a:ln/>
        </p:spPr>
        <p:txBody>
          <a:bodyPr wrap="square" lIns="0" tIns="0" rIns="0" bIns="0"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Profesor: Michael Miranda  ·  Computación Paralela y Distribuida  ·  UTEM 2026</a:t>
            </a:r>
            <a:endParaRPr lang="en-US" sz="1100" dirty="0"/>
          </a:p>
        </p:txBody>
      </p:sp>
      <p:pic>
        <p:nvPicPr>
          <p:cNvPr id="15" name="Imagen 14">
            <a:extLst>
              <a:ext uri="{FF2B5EF4-FFF2-40B4-BE49-F238E27FC236}">
                <a16:creationId xmlns:a16="http://schemas.microsoft.com/office/drawing/2014/main" id="{A89DD6D9-26EF-8C7F-B5F6-318EF2F87780}"/>
              </a:ext>
            </a:extLst>
          </p:cNvPr>
          <p:cNvPicPr>
            <a:picLocks noChangeAspect="1"/>
          </p:cNvPicPr>
          <p:nvPr/>
        </p:nvPicPr>
        <p:blipFill>
          <a:blip r:embed="rId4"/>
          <a:stretch>
            <a:fillRect/>
          </a:stretch>
        </p:blipFill>
        <p:spPr>
          <a:xfrm>
            <a:off x="8391253" y="86868"/>
            <a:ext cx="752747" cy="75274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64592"/>
            <a:ext cx="8412480" cy="502920"/>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¿Por Qué Este Proyecto?</a:t>
            </a:r>
            <a:endParaRPr lang="en-US" sz="2800" dirty="0"/>
          </a:p>
        </p:txBody>
      </p:sp>
      <p:sp>
        <p:nvSpPr>
          <p:cNvPr id="3" name="Text 1"/>
          <p:cNvSpPr/>
          <p:nvPr/>
        </p:nvSpPr>
        <p:spPr>
          <a:xfrm>
            <a:off x="365760" y="685800"/>
            <a:ext cx="8412480" cy="274320"/>
          </a:xfrm>
          <a:prstGeom prst="rect">
            <a:avLst/>
          </a:prstGeom>
          <a:noFill/>
          <a:ln/>
        </p:spPr>
        <p:txBody>
          <a:bodyPr wrap="square" lIns="0" tIns="0" rIns="0" bIns="0" rtlCol="0" anchor="ctr"/>
          <a:lstStyle/>
          <a:p>
            <a:pPr marL="0" indent="0" algn="l">
              <a:buNone/>
            </a:pPr>
            <a:r>
              <a:rPr lang="en-US" sz="1300" dirty="0">
                <a:solidFill>
                  <a:srgbClr val="94A3B8"/>
                </a:solidFill>
                <a:latin typeface="Calibri" pitchFamily="34" charset="0"/>
                <a:ea typeface="Calibri" pitchFamily="34" charset="-122"/>
                <a:cs typeface="Calibri" pitchFamily="34" charset="-120"/>
              </a:rPr>
              <a:t>Motivación técnica y pertinencia del paralelismo</a:t>
            </a:r>
            <a:endParaRPr lang="en-US" sz="1300" dirty="0"/>
          </a:p>
        </p:txBody>
      </p:sp>
      <p:sp>
        <p:nvSpPr>
          <p:cNvPr id="4" name="Shape 2"/>
          <p:cNvSpPr/>
          <p:nvPr/>
        </p:nvSpPr>
        <p:spPr>
          <a:xfrm>
            <a:off x="320040" y="960120"/>
            <a:ext cx="4114800" cy="1417320"/>
          </a:xfrm>
          <a:prstGeom prst="roundRect">
            <a:avLst>
              <a:gd name="adj" fmla="val 5161"/>
            </a:avLst>
          </a:prstGeom>
          <a:solidFill>
            <a:srgbClr val="1E2640"/>
          </a:solidFill>
          <a:ln/>
          <a:effectLst>
            <a:outerShdw blurRad="101600" dist="38100" dir="2700000" algn="bl" rotWithShape="0">
              <a:srgbClr val="000000">
                <a:alpha val="25000"/>
              </a:srgbClr>
            </a:outerShdw>
          </a:effectLst>
        </p:spPr>
        <p:txBody>
          <a:bodyPr/>
          <a:lstStyle/>
          <a:p>
            <a:endParaRPr lang="es-ES"/>
          </a:p>
        </p:txBody>
      </p:sp>
      <p:sp>
        <p:nvSpPr>
          <p:cNvPr id="5" name="Text 3"/>
          <p:cNvSpPr/>
          <p:nvPr/>
        </p:nvSpPr>
        <p:spPr>
          <a:xfrm>
            <a:off x="502920" y="1005840"/>
            <a:ext cx="3749040" cy="274320"/>
          </a:xfrm>
          <a:prstGeom prst="rect">
            <a:avLst/>
          </a:prstGeom>
          <a:noFill/>
          <a:ln/>
        </p:spPr>
        <p:txBody>
          <a:bodyPr wrap="square" lIns="0" tIns="0" rIns="0" bIns="0" rtlCol="0" anchor="ctr"/>
          <a:lstStyle/>
          <a:p>
            <a:pPr marL="0" indent="0">
              <a:buNone/>
            </a:pPr>
            <a:r>
              <a:rPr lang="en-US" sz="1300" b="1" dirty="0">
                <a:solidFill>
                  <a:srgbClr val="3B82F6"/>
                </a:solidFill>
                <a:latin typeface="Calibri" pitchFamily="34" charset="0"/>
                <a:ea typeface="Calibri" pitchFamily="34" charset="-122"/>
                <a:cs typeface="Calibri" pitchFamily="34" charset="-120"/>
              </a:rPr>
              <a:t>El Problema</a:t>
            </a:r>
            <a:endParaRPr lang="en-US" sz="1300" dirty="0"/>
          </a:p>
        </p:txBody>
      </p:sp>
      <p:sp>
        <p:nvSpPr>
          <p:cNvPr id="6" name="Text 4"/>
          <p:cNvSpPr/>
          <p:nvPr/>
        </p:nvSpPr>
        <p:spPr>
          <a:xfrm>
            <a:off x="502920" y="1298448"/>
            <a:ext cx="3749040" cy="822960"/>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El ruido Gaussiano degrada la calidad del video en condiciones de baja iluminación, alta sensibilidad ISO o compresión agresiva, dificultando tareas posteriores de análisis.</a:t>
            </a:r>
            <a:endParaRPr lang="en-US" sz="1150" dirty="0"/>
          </a:p>
        </p:txBody>
      </p:sp>
      <p:sp>
        <p:nvSpPr>
          <p:cNvPr id="7" name="Shape 5"/>
          <p:cNvSpPr/>
          <p:nvPr/>
        </p:nvSpPr>
        <p:spPr>
          <a:xfrm>
            <a:off x="320040" y="2468880"/>
            <a:ext cx="4114800" cy="1417320"/>
          </a:xfrm>
          <a:prstGeom prst="roundRect">
            <a:avLst>
              <a:gd name="adj" fmla="val 5161"/>
            </a:avLst>
          </a:prstGeom>
          <a:solidFill>
            <a:srgbClr val="1E2640"/>
          </a:solidFill>
          <a:ln/>
          <a:effectLst>
            <a:outerShdw blurRad="101600" dist="38100" dir="2700000" algn="bl" rotWithShape="0">
              <a:srgbClr val="000000">
                <a:alpha val="25000"/>
              </a:srgbClr>
            </a:outerShdw>
          </a:effectLst>
        </p:spPr>
        <p:txBody>
          <a:bodyPr/>
          <a:lstStyle/>
          <a:p>
            <a:endParaRPr lang="es-ES"/>
          </a:p>
        </p:txBody>
      </p:sp>
      <p:sp>
        <p:nvSpPr>
          <p:cNvPr id="8" name="Text 6"/>
          <p:cNvSpPr/>
          <p:nvPr/>
        </p:nvSpPr>
        <p:spPr>
          <a:xfrm>
            <a:off x="502920" y="2514600"/>
            <a:ext cx="3749040" cy="274320"/>
          </a:xfrm>
          <a:prstGeom prst="rect">
            <a:avLst/>
          </a:prstGeom>
          <a:noFill/>
          <a:ln/>
        </p:spPr>
        <p:txBody>
          <a:bodyPr wrap="square" lIns="0" tIns="0" rIns="0" bIns="0" rtlCol="0" anchor="ctr"/>
          <a:lstStyle/>
          <a:p>
            <a:pPr marL="0" indent="0">
              <a:buNone/>
            </a:pPr>
            <a:r>
              <a:rPr lang="en-US" sz="1300" b="1" dirty="0">
                <a:solidFill>
                  <a:srgbClr val="22D3EE"/>
                </a:solidFill>
                <a:latin typeface="Calibri" pitchFamily="34" charset="0"/>
                <a:ea typeface="Calibri" pitchFamily="34" charset="-122"/>
                <a:cs typeface="Calibri" pitchFamily="34" charset="-120"/>
              </a:rPr>
              <a:t>El Algoritmo: NLM-C</a:t>
            </a:r>
            <a:endParaRPr lang="en-US" sz="1300" dirty="0"/>
          </a:p>
        </p:txBody>
      </p:sp>
      <p:sp>
        <p:nvSpPr>
          <p:cNvPr id="9" name="Text 7"/>
          <p:cNvSpPr/>
          <p:nvPr/>
        </p:nvSpPr>
        <p:spPr>
          <a:xfrm>
            <a:off x="502920" y="2807208"/>
            <a:ext cx="3749040" cy="822960"/>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Non-Local Means Color pondera píxeles por similitud de contenido, no por distancia espacial. Preserva bordes y texturas donde filtros convencionales los difuminan.</a:t>
            </a:r>
            <a:endParaRPr lang="en-US" sz="1150" dirty="0"/>
          </a:p>
        </p:txBody>
      </p:sp>
      <p:sp>
        <p:nvSpPr>
          <p:cNvPr id="10" name="Shape 8"/>
          <p:cNvSpPr/>
          <p:nvPr/>
        </p:nvSpPr>
        <p:spPr>
          <a:xfrm>
            <a:off x="4572000" y="960120"/>
            <a:ext cx="4251960" cy="2926080"/>
          </a:xfrm>
          <a:prstGeom prst="roundRect">
            <a:avLst>
              <a:gd name="adj" fmla="val 2500"/>
            </a:avLst>
          </a:prstGeom>
          <a:solidFill>
            <a:srgbClr val="1E2640"/>
          </a:solidFill>
          <a:ln/>
          <a:effectLst>
            <a:outerShdw blurRad="101600" dist="38100" dir="2700000" algn="bl" rotWithShape="0">
              <a:srgbClr val="000000">
                <a:alpha val="25000"/>
              </a:srgbClr>
            </a:outerShdw>
          </a:effectLst>
        </p:spPr>
        <p:txBody>
          <a:bodyPr/>
          <a:lstStyle/>
          <a:p>
            <a:endParaRPr lang="es-ES"/>
          </a:p>
        </p:txBody>
      </p:sp>
      <p:sp>
        <p:nvSpPr>
          <p:cNvPr id="11" name="Text 9"/>
          <p:cNvSpPr/>
          <p:nvPr/>
        </p:nvSpPr>
        <p:spPr>
          <a:xfrm>
            <a:off x="4754880" y="1005840"/>
            <a:ext cx="3886200" cy="274320"/>
          </a:xfrm>
          <a:prstGeom prst="rect">
            <a:avLst/>
          </a:prstGeom>
          <a:noFill/>
          <a:ln/>
        </p:spPr>
        <p:txBody>
          <a:bodyPr wrap="square" lIns="0" tIns="0" rIns="0" bIns="0" rtlCol="0" anchor="ctr"/>
          <a:lstStyle/>
          <a:p>
            <a:pPr marL="0" indent="0">
              <a:buNone/>
            </a:pPr>
            <a:r>
              <a:rPr lang="en-US" sz="1300" b="1" dirty="0">
                <a:solidFill>
                  <a:srgbClr val="F59E0B"/>
                </a:solidFill>
                <a:latin typeface="Calibri" pitchFamily="34" charset="0"/>
                <a:ea typeface="Calibri" pitchFamily="34" charset="-122"/>
                <a:cs typeface="Calibri" pitchFamily="34" charset="-120"/>
              </a:rPr>
              <a:t>¿Por Qué Necesita Paralelismo?</a:t>
            </a:r>
            <a:endParaRPr lang="en-US" sz="1300" dirty="0"/>
          </a:p>
        </p:txBody>
      </p:sp>
      <p:sp>
        <p:nvSpPr>
          <p:cNvPr id="12" name="Text 10"/>
          <p:cNvSpPr/>
          <p:nvPr/>
        </p:nvSpPr>
        <p:spPr>
          <a:xfrm>
            <a:off x="4754880" y="1371600"/>
            <a:ext cx="3886200" cy="594360"/>
          </a:xfrm>
          <a:prstGeom prst="rect">
            <a:avLst/>
          </a:prstGeom>
          <a:noFill/>
          <a:ln/>
        </p:spPr>
        <p:txBody>
          <a:bodyPr wrap="square" lIns="0" tIns="0" rIns="0" bIns="0" rtlCol="0" anchor="ctr"/>
          <a:lstStyle/>
          <a:p>
            <a:pPr marL="0" indent="0" algn="ctr">
              <a:buNone/>
            </a:pPr>
            <a:r>
              <a:rPr lang="en-US" sz="3600" b="1" dirty="0">
                <a:solidFill>
                  <a:srgbClr val="F59E0B"/>
                </a:solidFill>
                <a:latin typeface="Calibri" pitchFamily="34" charset="0"/>
                <a:ea typeface="Calibri" pitchFamily="34" charset="-122"/>
                <a:cs typeface="Calibri" pitchFamily="34" charset="-120"/>
              </a:rPr>
              <a:t>1.120 M</a:t>
            </a:r>
            <a:endParaRPr lang="en-US" sz="3600" dirty="0"/>
          </a:p>
        </p:txBody>
      </p:sp>
      <p:sp>
        <p:nvSpPr>
          <p:cNvPr id="13" name="Text 11"/>
          <p:cNvSpPr/>
          <p:nvPr/>
        </p:nvSpPr>
        <p:spPr>
          <a:xfrm>
            <a:off x="4754880" y="1965960"/>
            <a:ext cx="3886200" cy="256032"/>
          </a:xfrm>
          <a:prstGeom prst="rect">
            <a:avLst/>
          </a:prstGeom>
          <a:noFill/>
          <a:ln/>
        </p:spPr>
        <p:txBody>
          <a:bodyPr wrap="square" lIns="0" tIns="0" rIns="0" bIns="0"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operaciones de punto flotante por frame</a:t>
            </a:r>
            <a:endParaRPr lang="en-US" sz="1100" dirty="0"/>
          </a:p>
        </p:txBody>
      </p:sp>
      <p:sp>
        <p:nvSpPr>
          <p:cNvPr id="14" name="Shape 12"/>
          <p:cNvSpPr/>
          <p:nvPr/>
        </p:nvSpPr>
        <p:spPr>
          <a:xfrm>
            <a:off x="4846320" y="2286000"/>
            <a:ext cx="3840480" cy="0"/>
          </a:xfrm>
          <a:prstGeom prst="line">
            <a:avLst/>
          </a:prstGeom>
          <a:noFill/>
          <a:ln w="12700">
            <a:solidFill>
              <a:srgbClr val="2D3A55"/>
            </a:solidFill>
            <a:prstDash val="solid"/>
          </a:ln>
        </p:spPr>
        <p:txBody>
          <a:bodyPr/>
          <a:lstStyle/>
          <a:p>
            <a:endParaRPr lang="es-ES"/>
          </a:p>
        </p:txBody>
      </p:sp>
      <p:sp>
        <p:nvSpPr>
          <p:cNvPr id="15" name="Text 13"/>
          <p:cNvSpPr/>
          <p:nvPr/>
        </p:nvSpPr>
        <p:spPr>
          <a:xfrm>
            <a:off x="4754880" y="2377440"/>
            <a:ext cx="3886200"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O(N × W² × P²) por frame</a:t>
            </a:r>
            <a:endParaRPr lang="en-US" sz="1200" dirty="0"/>
          </a:p>
        </p:txBody>
      </p:sp>
      <p:sp>
        <p:nvSpPr>
          <p:cNvPr id="16" name="Text 14"/>
          <p:cNvSpPr/>
          <p:nvPr/>
        </p:nvSpPr>
        <p:spPr>
          <a:xfrm>
            <a:off x="4754880" y="2697480"/>
            <a:ext cx="3886200" cy="822960"/>
          </a:xfrm>
          <a:prstGeom prst="rect">
            <a:avLst/>
          </a:prstGeom>
          <a:noFill/>
          <a:ln/>
        </p:spPr>
        <p:txBody>
          <a:bodyPr wrap="square" lIns="0" tIns="0" rIns="0" bIns="0"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N = 1.280×560 pixeles   W = 21×21 vecinos   P = 7×7 parche</a:t>
            </a:r>
            <a:endParaRPr lang="en-US" sz="1100" dirty="0"/>
          </a:p>
          <a:p>
            <a:pPr marL="0" indent="0" algn="ctr">
              <a:buNone/>
            </a:pPr>
            <a:r>
              <a:rPr lang="en-US" sz="1100" dirty="0">
                <a:solidFill>
                  <a:srgbClr val="94A3B8"/>
                </a:solidFill>
                <a:latin typeface="Calibri" pitchFamily="34" charset="0"/>
                <a:ea typeface="Calibri" pitchFamily="34" charset="-122"/>
                <a:cs typeface="Calibri" pitchFamily="34" charset="-120"/>
              </a:rPr>
              <a:t>Versión secuencial: ~136 minutos por video</a:t>
            </a:r>
            <a:endParaRPr lang="en-US" sz="1100" dirty="0"/>
          </a:p>
        </p:txBody>
      </p:sp>
      <p:pic>
        <p:nvPicPr>
          <p:cNvPr id="17" name="Image 0" descr="preencoded.png"/>
          <p:cNvPicPr>
            <a:picLocks noChangeAspect="1"/>
          </p:cNvPicPr>
          <p:nvPr/>
        </p:nvPicPr>
        <p:blipFill>
          <a:blip r:embed="rId4"/>
          <a:srcRect/>
          <a:stretch/>
        </p:blipFill>
        <p:spPr>
          <a:xfrm>
            <a:off x="320040" y="3977640"/>
            <a:ext cx="8503920" cy="822960"/>
          </a:xfrm>
          <a:prstGeom prst="rect">
            <a:avLst/>
          </a:prstGeom>
        </p:spPr>
      </p:pic>
      <p:sp>
        <p:nvSpPr>
          <p:cNvPr id="18" name="Text 15"/>
          <p:cNvSpPr/>
          <p:nvPr/>
        </p:nvSpPr>
        <p:spPr>
          <a:xfrm>
            <a:off x="320040" y="3931920"/>
            <a:ext cx="8503920" cy="228600"/>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Original ruidoso  →  Filtrado NLM-C</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64592"/>
            <a:ext cx="8412480" cy="502920"/>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Datos y Entorno Experimental</a:t>
            </a:r>
            <a:endParaRPr lang="en-US" sz="2800" dirty="0"/>
          </a:p>
        </p:txBody>
      </p:sp>
      <p:sp>
        <p:nvSpPr>
          <p:cNvPr id="3" name="Text 1"/>
          <p:cNvSpPr/>
          <p:nvPr/>
        </p:nvSpPr>
        <p:spPr>
          <a:xfrm>
            <a:off x="365760" y="685800"/>
            <a:ext cx="8412480" cy="274320"/>
          </a:xfrm>
          <a:prstGeom prst="rect">
            <a:avLst/>
          </a:prstGeom>
          <a:noFill/>
          <a:ln/>
        </p:spPr>
        <p:txBody>
          <a:bodyPr wrap="square" lIns="0" tIns="0" rIns="0" bIns="0" rtlCol="0" anchor="ctr"/>
          <a:lstStyle/>
          <a:p>
            <a:pPr marL="0" indent="0" algn="l">
              <a:buNone/>
            </a:pPr>
            <a:r>
              <a:rPr lang="en-US" sz="1300" dirty="0">
                <a:solidFill>
                  <a:srgbClr val="94A3B8"/>
                </a:solidFill>
                <a:latin typeface="Calibri" pitchFamily="34" charset="0"/>
                <a:ea typeface="Calibri" pitchFamily="34" charset="-122"/>
                <a:cs typeface="Calibri" pitchFamily="34" charset="-120"/>
              </a:rPr>
              <a:t>Dataset, hardware y parámetros del algoritmo</a:t>
            </a:r>
            <a:endParaRPr lang="en-US" sz="1300" dirty="0"/>
          </a:p>
        </p:txBody>
      </p:sp>
      <p:sp>
        <p:nvSpPr>
          <p:cNvPr id="4" name="Shape 2"/>
          <p:cNvSpPr/>
          <p:nvPr/>
        </p:nvSpPr>
        <p:spPr>
          <a:xfrm>
            <a:off x="320040" y="960120"/>
            <a:ext cx="4023360" cy="3200400"/>
          </a:xfrm>
          <a:prstGeom prst="roundRect">
            <a:avLst>
              <a:gd name="adj" fmla="val 2286"/>
            </a:avLst>
          </a:prstGeom>
          <a:solidFill>
            <a:srgbClr val="1E2640"/>
          </a:solidFill>
          <a:ln/>
          <a:effectLst>
            <a:outerShdw blurRad="101600" dist="38100" dir="2700000" algn="bl" rotWithShape="0">
              <a:srgbClr val="000000">
                <a:alpha val="25000"/>
              </a:srgbClr>
            </a:outerShdw>
          </a:effectLst>
        </p:spPr>
        <p:txBody>
          <a:bodyPr/>
          <a:lstStyle/>
          <a:p>
            <a:endParaRPr lang="es-ES"/>
          </a:p>
        </p:txBody>
      </p:sp>
      <p:sp>
        <p:nvSpPr>
          <p:cNvPr id="5" name="Text 3"/>
          <p:cNvSpPr/>
          <p:nvPr/>
        </p:nvSpPr>
        <p:spPr>
          <a:xfrm>
            <a:off x="502920" y="1005840"/>
            <a:ext cx="3657600" cy="292608"/>
          </a:xfrm>
          <a:prstGeom prst="rect">
            <a:avLst/>
          </a:prstGeom>
          <a:noFill/>
          <a:ln/>
        </p:spPr>
        <p:txBody>
          <a:bodyPr wrap="square" lIns="0" tIns="0" rIns="0" bIns="0" rtlCol="0" anchor="ctr"/>
          <a:lstStyle/>
          <a:p>
            <a:pPr marL="0" indent="0">
              <a:buNone/>
            </a:pPr>
            <a:r>
              <a:rPr lang="en-US" sz="1300" b="1" dirty="0">
                <a:solidFill>
                  <a:srgbClr val="3B82F6"/>
                </a:solidFill>
                <a:latin typeface="Calibri" pitchFamily="34" charset="0"/>
                <a:ea typeface="Calibri" pitchFamily="34" charset="-122"/>
                <a:cs typeface="Calibri" pitchFamily="34" charset="-120"/>
              </a:rPr>
              <a:t>Video de Prueba</a:t>
            </a:r>
            <a:endParaRPr lang="en-US" sz="1300" dirty="0"/>
          </a:p>
        </p:txBody>
      </p:sp>
      <p:sp>
        <p:nvSpPr>
          <p:cNvPr id="6" name="Text 4"/>
          <p:cNvSpPr/>
          <p:nvPr/>
        </p:nvSpPr>
        <p:spPr>
          <a:xfrm>
            <a:off x="502920" y="1417320"/>
            <a:ext cx="1645920" cy="384048"/>
          </a:xfrm>
          <a:prstGeom prst="rect">
            <a:avLst/>
          </a:prstGeom>
          <a:noFill/>
          <a:ln/>
        </p:spPr>
        <p:txBody>
          <a:bodyPr wrap="square" lIns="0" tIns="0" rIns="0" bIns="0" rtlCol="0" anchor="ctr"/>
          <a:lstStyle/>
          <a:p>
            <a:pPr marL="0" indent="0">
              <a:buNone/>
            </a:pPr>
            <a:r>
              <a:rPr lang="en-US" sz="1100" b="1" dirty="0">
                <a:solidFill>
                  <a:srgbClr val="94A3B8"/>
                </a:solidFill>
                <a:latin typeface="Calibri" pitchFamily="34" charset="0"/>
                <a:ea typeface="Calibri" pitchFamily="34" charset="-122"/>
                <a:cs typeface="Calibri" pitchFamily="34" charset="-120"/>
              </a:rPr>
              <a:t>Resolución</a:t>
            </a:r>
            <a:endParaRPr lang="en-US" sz="1100" dirty="0"/>
          </a:p>
        </p:txBody>
      </p:sp>
      <p:sp>
        <p:nvSpPr>
          <p:cNvPr id="7" name="Text 5"/>
          <p:cNvSpPr/>
          <p:nvPr/>
        </p:nvSpPr>
        <p:spPr>
          <a:xfrm>
            <a:off x="2148840" y="1417320"/>
            <a:ext cx="2011680" cy="384048"/>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1.280 × 560 px</a:t>
            </a:r>
            <a:endParaRPr lang="en-US" sz="1100" dirty="0"/>
          </a:p>
        </p:txBody>
      </p:sp>
      <p:sp>
        <p:nvSpPr>
          <p:cNvPr id="8" name="Text 6"/>
          <p:cNvSpPr/>
          <p:nvPr/>
        </p:nvSpPr>
        <p:spPr>
          <a:xfrm>
            <a:off x="502920" y="1874520"/>
            <a:ext cx="1645920" cy="384048"/>
          </a:xfrm>
          <a:prstGeom prst="rect">
            <a:avLst/>
          </a:prstGeom>
          <a:noFill/>
          <a:ln/>
        </p:spPr>
        <p:txBody>
          <a:bodyPr wrap="square" lIns="0" tIns="0" rIns="0" bIns="0" rtlCol="0" anchor="ctr"/>
          <a:lstStyle/>
          <a:p>
            <a:pPr marL="0" indent="0">
              <a:buNone/>
            </a:pPr>
            <a:r>
              <a:rPr lang="en-US" sz="1100" b="1" dirty="0">
                <a:solidFill>
                  <a:srgbClr val="94A3B8"/>
                </a:solidFill>
                <a:latin typeface="Calibri" pitchFamily="34" charset="0"/>
                <a:ea typeface="Calibri" pitchFamily="34" charset="-122"/>
                <a:cs typeface="Calibri" pitchFamily="34" charset="-120"/>
              </a:rPr>
              <a:t>FPS</a:t>
            </a:r>
            <a:endParaRPr lang="en-US" sz="1100" dirty="0"/>
          </a:p>
        </p:txBody>
      </p:sp>
      <p:sp>
        <p:nvSpPr>
          <p:cNvPr id="9" name="Text 7"/>
          <p:cNvSpPr/>
          <p:nvPr/>
        </p:nvSpPr>
        <p:spPr>
          <a:xfrm>
            <a:off x="2148840" y="1874520"/>
            <a:ext cx="2011680" cy="384048"/>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30 frames/segundo</a:t>
            </a:r>
            <a:endParaRPr lang="en-US" sz="1100" dirty="0"/>
          </a:p>
        </p:txBody>
      </p:sp>
      <p:sp>
        <p:nvSpPr>
          <p:cNvPr id="10" name="Text 8"/>
          <p:cNvSpPr/>
          <p:nvPr/>
        </p:nvSpPr>
        <p:spPr>
          <a:xfrm>
            <a:off x="502920" y="2331720"/>
            <a:ext cx="1645920" cy="384048"/>
          </a:xfrm>
          <a:prstGeom prst="rect">
            <a:avLst/>
          </a:prstGeom>
          <a:noFill/>
          <a:ln/>
        </p:spPr>
        <p:txBody>
          <a:bodyPr wrap="square" lIns="0" tIns="0" rIns="0" bIns="0" rtlCol="0" anchor="ctr"/>
          <a:lstStyle/>
          <a:p>
            <a:pPr marL="0" indent="0">
              <a:buNone/>
            </a:pPr>
            <a:r>
              <a:rPr lang="en-US" sz="1100" b="1" dirty="0">
                <a:solidFill>
                  <a:srgbClr val="94A3B8"/>
                </a:solidFill>
                <a:latin typeface="Calibri" pitchFamily="34" charset="0"/>
                <a:ea typeface="Calibri" pitchFamily="34" charset="-122"/>
                <a:cs typeface="Calibri" pitchFamily="34" charset="-120"/>
              </a:rPr>
              <a:t>Frames</a:t>
            </a:r>
            <a:endParaRPr lang="en-US" sz="1100" dirty="0"/>
          </a:p>
        </p:txBody>
      </p:sp>
      <p:sp>
        <p:nvSpPr>
          <p:cNvPr id="11" name="Text 9"/>
          <p:cNvSpPr/>
          <p:nvPr/>
        </p:nvSpPr>
        <p:spPr>
          <a:xfrm>
            <a:off x="2148840" y="2331720"/>
            <a:ext cx="2011680" cy="384048"/>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1.459 en total</a:t>
            </a:r>
            <a:endParaRPr lang="en-US" sz="1100" dirty="0"/>
          </a:p>
        </p:txBody>
      </p:sp>
      <p:sp>
        <p:nvSpPr>
          <p:cNvPr id="12" name="Text 10"/>
          <p:cNvSpPr/>
          <p:nvPr/>
        </p:nvSpPr>
        <p:spPr>
          <a:xfrm>
            <a:off x="502920" y="2788920"/>
            <a:ext cx="1645920" cy="384048"/>
          </a:xfrm>
          <a:prstGeom prst="rect">
            <a:avLst/>
          </a:prstGeom>
          <a:noFill/>
          <a:ln/>
        </p:spPr>
        <p:txBody>
          <a:bodyPr wrap="square" lIns="0" tIns="0" rIns="0" bIns="0" rtlCol="0" anchor="ctr"/>
          <a:lstStyle/>
          <a:p>
            <a:pPr marL="0" indent="0">
              <a:buNone/>
            </a:pPr>
            <a:r>
              <a:rPr lang="en-US" sz="1100" b="1" dirty="0">
                <a:solidFill>
                  <a:srgbClr val="94A3B8"/>
                </a:solidFill>
                <a:latin typeface="Calibri" pitchFamily="34" charset="0"/>
                <a:ea typeface="Calibri" pitchFamily="34" charset="-122"/>
                <a:cs typeface="Calibri" pitchFamily="34" charset="-120"/>
              </a:rPr>
              <a:t>Ruido</a:t>
            </a:r>
            <a:endParaRPr lang="en-US" sz="1100" dirty="0"/>
          </a:p>
        </p:txBody>
      </p:sp>
      <p:sp>
        <p:nvSpPr>
          <p:cNvPr id="13" name="Text 11"/>
          <p:cNvSpPr/>
          <p:nvPr/>
        </p:nvSpPr>
        <p:spPr>
          <a:xfrm>
            <a:off x="2148840" y="2788920"/>
            <a:ext cx="2011680" cy="384048"/>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Gaussiano artificial  σ=25</a:t>
            </a:r>
            <a:endParaRPr lang="en-US" sz="1100" dirty="0"/>
          </a:p>
        </p:txBody>
      </p:sp>
      <p:pic>
        <p:nvPicPr>
          <p:cNvPr id="14" name="Image 0" descr="preencoded.png"/>
          <p:cNvPicPr>
            <a:picLocks noChangeAspect="1"/>
          </p:cNvPicPr>
          <p:nvPr/>
        </p:nvPicPr>
        <p:blipFill>
          <a:blip r:embed="rId4"/>
          <a:srcRect/>
          <a:stretch/>
        </p:blipFill>
        <p:spPr>
          <a:xfrm>
            <a:off x="411480" y="3337560"/>
            <a:ext cx="3749040" cy="685800"/>
          </a:xfrm>
          <a:prstGeom prst="rect">
            <a:avLst/>
          </a:prstGeom>
        </p:spPr>
      </p:pic>
      <p:sp>
        <p:nvSpPr>
          <p:cNvPr id="15" name="Shape 12"/>
          <p:cNvSpPr/>
          <p:nvPr/>
        </p:nvSpPr>
        <p:spPr>
          <a:xfrm>
            <a:off x="4480560" y="960120"/>
            <a:ext cx="4343400" cy="3200400"/>
          </a:xfrm>
          <a:prstGeom prst="roundRect">
            <a:avLst>
              <a:gd name="adj" fmla="val 2286"/>
            </a:avLst>
          </a:prstGeom>
          <a:solidFill>
            <a:srgbClr val="1E2640"/>
          </a:solidFill>
          <a:ln/>
          <a:effectLst>
            <a:outerShdw blurRad="101600" dist="38100" dir="2700000" algn="bl" rotWithShape="0">
              <a:srgbClr val="000000">
                <a:alpha val="25000"/>
              </a:srgbClr>
            </a:outerShdw>
          </a:effectLst>
        </p:spPr>
        <p:txBody>
          <a:bodyPr/>
          <a:lstStyle/>
          <a:p>
            <a:endParaRPr lang="es-ES"/>
          </a:p>
        </p:txBody>
      </p:sp>
      <p:sp>
        <p:nvSpPr>
          <p:cNvPr id="16" name="Text 13"/>
          <p:cNvSpPr/>
          <p:nvPr/>
        </p:nvSpPr>
        <p:spPr>
          <a:xfrm>
            <a:off x="4663440" y="1005840"/>
            <a:ext cx="3977640" cy="292608"/>
          </a:xfrm>
          <a:prstGeom prst="rect">
            <a:avLst/>
          </a:prstGeom>
          <a:noFill/>
          <a:ln/>
        </p:spPr>
        <p:txBody>
          <a:bodyPr wrap="square" lIns="0" tIns="0" rIns="0" bIns="0" rtlCol="0" anchor="ctr"/>
          <a:lstStyle/>
          <a:p>
            <a:pPr marL="0" indent="0">
              <a:buNone/>
            </a:pPr>
            <a:r>
              <a:rPr lang="en-US" sz="1300" b="1" dirty="0">
                <a:solidFill>
                  <a:srgbClr val="22D3EE"/>
                </a:solidFill>
                <a:latin typeface="Calibri" pitchFamily="34" charset="0"/>
                <a:ea typeface="Calibri" pitchFamily="34" charset="-122"/>
                <a:cs typeface="Calibri" pitchFamily="34" charset="-120"/>
              </a:rPr>
              <a:t>Parámetros NLM-C</a:t>
            </a:r>
            <a:endParaRPr lang="en-US" sz="1300" dirty="0"/>
          </a:p>
        </p:txBody>
      </p:sp>
      <p:sp>
        <p:nvSpPr>
          <p:cNvPr id="17" name="Text 14"/>
          <p:cNvSpPr/>
          <p:nvPr/>
        </p:nvSpPr>
        <p:spPr>
          <a:xfrm>
            <a:off x="4663440" y="1389888"/>
            <a:ext cx="1188720" cy="320040"/>
          </a:xfrm>
          <a:prstGeom prst="rect">
            <a:avLst/>
          </a:prstGeom>
          <a:noFill/>
          <a:ln/>
        </p:spPr>
        <p:txBody>
          <a:bodyPr wrap="square" lIns="0" tIns="0" rIns="0" bIns="0" rtlCol="0" anchor="ctr"/>
          <a:lstStyle/>
          <a:p>
            <a:pPr marL="0" indent="0">
              <a:buNone/>
            </a:pPr>
            <a:r>
              <a:rPr lang="en-US" sz="1100" b="1" dirty="0">
                <a:solidFill>
                  <a:srgbClr val="94A3B8"/>
                </a:solidFill>
                <a:latin typeface="Calibri" pitchFamily="34" charset="0"/>
                <a:ea typeface="Calibri" pitchFamily="34" charset="-122"/>
                <a:cs typeface="Calibri" pitchFamily="34" charset="-120"/>
              </a:rPr>
              <a:t>Parche:</a:t>
            </a:r>
            <a:endParaRPr lang="en-US" sz="1100" dirty="0"/>
          </a:p>
        </p:txBody>
      </p:sp>
      <p:sp>
        <p:nvSpPr>
          <p:cNvPr id="18" name="Text 15"/>
          <p:cNvSpPr/>
          <p:nvPr/>
        </p:nvSpPr>
        <p:spPr>
          <a:xfrm>
            <a:off x="5897880" y="1389888"/>
            <a:ext cx="2743200" cy="32004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7×7 px (49 posiciones)</a:t>
            </a:r>
            <a:endParaRPr lang="en-US" sz="1100" dirty="0"/>
          </a:p>
        </p:txBody>
      </p:sp>
      <p:sp>
        <p:nvSpPr>
          <p:cNvPr id="19" name="Text 16"/>
          <p:cNvSpPr/>
          <p:nvPr/>
        </p:nvSpPr>
        <p:spPr>
          <a:xfrm>
            <a:off x="4663440" y="1755648"/>
            <a:ext cx="1188720" cy="320040"/>
          </a:xfrm>
          <a:prstGeom prst="rect">
            <a:avLst/>
          </a:prstGeom>
          <a:noFill/>
          <a:ln/>
        </p:spPr>
        <p:txBody>
          <a:bodyPr wrap="square" lIns="0" tIns="0" rIns="0" bIns="0" rtlCol="0" anchor="ctr"/>
          <a:lstStyle/>
          <a:p>
            <a:pPr marL="0" indent="0">
              <a:buNone/>
            </a:pPr>
            <a:r>
              <a:rPr lang="en-US" sz="1100" b="1" dirty="0">
                <a:solidFill>
                  <a:srgbClr val="94A3B8"/>
                </a:solidFill>
                <a:latin typeface="Calibri" pitchFamily="34" charset="0"/>
                <a:ea typeface="Calibri" pitchFamily="34" charset="-122"/>
                <a:cs typeface="Calibri" pitchFamily="34" charset="-120"/>
              </a:rPr>
              <a:t>Ventana:</a:t>
            </a:r>
            <a:endParaRPr lang="en-US" sz="1100" dirty="0"/>
          </a:p>
        </p:txBody>
      </p:sp>
      <p:sp>
        <p:nvSpPr>
          <p:cNvPr id="20" name="Text 17"/>
          <p:cNvSpPr/>
          <p:nvPr/>
        </p:nvSpPr>
        <p:spPr>
          <a:xfrm>
            <a:off x="5897880" y="1755648"/>
            <a:ext cx="2743200" cy="32004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21×21 vecinos (441)</a:t>
            </a:r>
            <a:endParaRPr lang="en-US" sz="1100" dirty="0"/>
          </a:p>
        </p:txBody>
      </p:sp>
      <p:sp>
        <p:nvSpPr>
          <p:cNvPr id="21" name="Text 18"/>
          <p:cNvSpPr/>
          <p:nvPr/>
        </p:nvSpPr>
        <p:spPr>
          <a:xfrm>
            <a:off x="4663440" y="2121408"/>
            <a:ext cx="1188720" cy="320040"/>
          </a:xfrm>
          <a:prstGeom prst="rect">
            <a:avLst/>
          </a:prstGeom>
          <a:noFill/>
          <a:ln/>
        </p:spPr>
        <p:txBody>
          <a:bodyPr wrap="square" lIns="0" tIns="0" rIns="0" bIns="0" rtlCol="0" anchor="ctr"/>
          <a:lstStyle/>
          <a:p>
            <a:pPr marL="0" indent="0">
              <a:buNone/>
            </a:pPr>
            <a:r>
              <a:rPr lang="en-US" sz="1100" b="1" dirty="0">
                <a:solidFill>
                  <a:srgbClr val="94A3B8"/>
                </a:solidFill>
                <a:latin typeface="Calibri" pitchFamily="34" charset="0"/>
                <a:ea typeface="Calibri" pitchFamily="34" charset="-122"/>
                <a:cs typeface="Calibri" pitchFamily="34" charset="-120"/>
              </a:rPr>
              <a:t>h:</a:t>
            </a:r>
            <a:endParaRPr lang="en-US" sz="1100" dirty="0"/>
          </a:p>
        </p:txBody>
      </p:sp>
      <p:sp>
        <p:nvSpPr>
          <p:cNvPr id="22" name="Text 19"/>
          <p:cNvSpPr/>
          <p:nvPr/>
        </p:nvSpPr>
        <p:spPr>
          <a:xfrm>
            <a:off x="5897880" y="2121408"/>
            <a:ext cx="2743200" cy="32004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10 (fuerza de filtrado)</a:t>
            </a:r>
            <a:endParaRPr lang="en-US" sz="1100" dirty="0"/>
          </a:p>
        </p:txBody>
      </p:sp>
      <p:sp>
        <p:nvSpPr>
          <p:cNvPr id="23" name="Shape 20"/>
          <p:cNvSpPr/>
          <p:nvPr/>
        </p:nvSpPr>
        <p:spPr>
          <a:xfrm>
            <a:off x="4663440" y="2532888"/>
            <a:ext cx="3931920" cy="0"/>
          </a:xfrm>
          <a:prstGeom prst="line">
            <a:avLst/>
          </a:prstGeom>
          <a:noFill/>
          <a:ln w="12700">
            <a:solidFill>
              <a:srgbClr val="2D3A55"/>
            </a:solidFill>
            <a:prstDash val="solid"/>
          </a:ln>
        </p:spPr>
        <p:txBody>
          <a:bodyPr/>
          <a:lstStyle/>
          <a:p>
            <a:endParaRPr lang="es-ES"/>
          </a:p>
        </p:txBody>
      </p:sp>
      <p:sp>
        <p:nvSpPr>
          <p:cNvPr id="24" name="Text 21"/>
          <p:cNvSpPr/>
          <p:nvPr/>
        </p:nvSpPr>
        <p:spPr>
          <a:xfrm>
            <a:off x="4663440" y="2651760"/>
            <a:ext cx="3977640" cy="292608"/>
          </a:xfrm>
          <a:prstGeom prst="rect">
            <a:avLst/>
          </a:prstGeom>
          <a:noFill/>
          <a:ln/>
        </p:spPr>
        <p:txBody>
          <a:bodyPr wrap="square" lIns="0" tIns="0" rIns="0" bIns="0" rtlCol="0" anchor="ctr"/>
          <a:lstStyle/>
          <a:p>
            <a:pPr marL="0" indent="0">
              <a:buNone/>
            </a:pPr>
            <a:r>
              <a:rPr lang="en-US" sz="1300" b="1" dirty="0">
                <a:solidFill>
                  <a:srgbClr val="10B981"/>
                </a:solidFill>
                <a:latin typeface="Calibri" pitchFamily="34" charset="0"/>
                <a:ea typeface="Calibri" pitchFamily="34" charset="-122"/>
                <a:cs typeface="Calibri" pitchFamily="34" charset="-120"/>
              </a:rPr>
              <a:t>Hardware</a:t>
            </a:r>
            <a:endParaRPr lang="en-US" sz="1300" dirty="0"/>
          </a:p>
        </p:txBody>
      </p:sp>
      <p:sp>
        <p:nvSpPr>
          <p:cNvPr id="25" name="Text 22"/>
          <p:cNvSpPr/>
          <p:nvPr/>
        </p:nvSpPr>
        <p:spPr>
          <a:xfrm>
            <a:off x="4663440" y="3017520"/>
            <a:ext cx="822960" cy="292608"/>
          </a:xfrm>
          <a:prstGeom prst="rect">
            <a:avLst/>
          </a:prstGeom>
          <a:noFill/>
          <a:ln/>
        </p:spPr>
        <p:txBody>
          <a:bodyPr wrap="square" lIns="0" tIns="0" rIns="0" bIns="0" rtlCol="0" anchor="ctr"/>
          <a:lstStyle/>
          <a:p>
            <a:pPr marL="0" indent="0">
              <a:buNone/>
            </a:pPr>
            <a:r>
              <a:rPr lang="en-US" sz="1100" b="1" dirty="0">
                <a:solidFill>
                  <a:srgbClr val="94A3B8"/>
                </a:solidFill>
                <a:latin typeface="Calibri" pitchFamily="34" charset="0"/>
                <a:ea typeface="Calibri" pitchFamily="34" charset="-122"/>
                <a:cs typeface="Calibri" pitchFamily="34" charset="-120"/>
              </a:rPr>
              <a:t>GPU:</a:t>
            </a:r>
            <a:endParaRPr lang="en-US" sz="1100" dirty="0"/>
          </a:p>
        </p:txBody>
      </p:sp>
      <p:sp>
        <p:nvSpPr>
          <p:cNvPr id="26" name="Text 23"/>
          <p:cNvSpPr/>
          <p:nvPr/>
        </p:nvSpPr>
        <p:spPr>
          <a:xfrm>
            <a:off x="5532120" y="3017520"/>
            <a:ext cx="3108960" cy="292608"/>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NVIDIA RTX 4060 (3.072 cores)</a:t>
            </a:r>
            <a:endParaRPr lang="en-US" sz="1100" dirty="0"/>
          </a:p>
        </p:txBody>
      </p:sp>
      <p:sp>
        <p:nvSpPr>
          <p:cNvPr id="27" name="Text 24"/>
          <p:cNvSpPr/>
          <p:nvPr/>
        </p:nvSpPr>
        <p:spPr>
          <a:xfrm>
            <a:off x="4663440" y="3364992"/>
            <a:ext cx="822960" cy="292608"/>
          </a:xfrm>
          <a:prstGeom prst="rect">
            <a:avLst/>
          </a:prstGeom>
          <a:noFill/>
          <a:ln/>
        </p:spPr>
        <p:txBody>
          <a:bodyPr wrap="square" lIns="0" tIns="0" rIns="0" bIns="0" rtlCol="0" anchor="ctr"/>
          <a:lstStyle/>
          <a:p>
            <a:pPr marL="0" indent="0">
              <a:buNone/>
            </a:pPr>
            <a:r>
              <a:rPr lang="en-US" sz="1100" b="1" dirty="0">
                <a:solidFill>
                  <a:srgbClr val="94A3B8"/>
                </a:solidFill>
                <a:latin typeface="Calibri" pitchFamily="34" charset="0"/>
                <a:ea typeface="Calibri" pitchFamily="34" charset="-122"/>
                <a:cs typeface="Calibri" pitchFamily="34" charset="-120"/>
              </a:rPr>
              <a:t>CPU:</a:t>
            </a:r>
            <a:endParaRPr lang="en-US" sz="1100" dirty="0"/>
          </a:p>
        </p:txBody>
      </p:sp>
      <p:sp>
        <p:nvSpPr>
          <p:cNvPr id="28" name="Text 25"/>
          <p:cNvSpPr/>
          <p:nvPr/>
        </p:nvSpPr>
        <p:spPr>
          <a:xfrm>
            <a:off x="5532120" y="3364992"/>
            <a:ext cx="3108960" cy="292608"/>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AMD Ryzen 5700X</a:t>
            </a:r>
            <a:endParaRPr lang="en-US" sz="1100" dirty="0"/>
          </a:p>
        </p:txBody>
      </p:sp>
      <p:sp>
        <p:nvSpPr>
          <p:cNvPr id="29" name="Text 26"/>
          <p:cNvSpPr/>
          <p:nvPr/>
        </p:nvSpPr>
        <p:spPr>
          <a:xfrm>
            <a:off x="4663440" y="3712464"/>
            <a:ext cx="822960" cy="292608"/>
          </a:xfrm>
          <a:prstGeom prst="rect">
            <a:avLst/>
          </a:prstGeom>
          <a:noFill/>
          <a:ln/>
        </p:spPr>
        <p:txBody>
          <a:bodyPr wrap="square" lIns="0" tIns="0" rIns="0" bIns="0" rtlCol="0" anchor="ctr"/>
          <a:lstStyle/>
          <a:p>
            <a:pPr marL="0" indent="0">
              <a:buNone/>
            </a:pPr>
            <a:r>
              <a:rPr lang="en-US" sz="1100" b="1" dirty="0">
                <a:solidFill>
                  <a:srgbClr val="94A3B8"/>
                </a:solidFill>
                <a:latin typeface="Calibri" pitchFamily="34" charset="0"/>
                <a:ea typeface="Calibri" pitchFamily="34" charset="-122"/>
                <a:cs typeface="Calibri" pitchFamily="34" charset="-120"/>
              </a:rPr>
              <a:t>RAM:</a:t>
            </a:r>
            <a:endParaRPr lang="en-US" sz="1100" dirty="0"/>
          </a:p>
        </p:txBody>
      </p:sp>
      <p:sp>
        <p:nvSpPr>
          <p:cNvPr id="30" name="Text 27"/>
          <p:cNvSpPr/>
          <p:nvPr/>
        </p:nvSpPr>
        <p:spPr>
          <a:xfrm>
            <a:off x="5532120" y="3712464"/>
            <a:ext cx="3108960" cy="292608"/>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16 GB</a:t>
            </a:r>
            <a:endParaRPr lang="en-US" sz="1100" dirty="0"/>
          </a:p>
        </p:txBody>
      </p:sp>
      <p:sp>
        <p:nvSpPr>
          <p:cNvPr id="31" name="Shape 28"/>
          <p:cNvSpPr/>
          <p:nvPr/>
        </p:nvSpPr>
        <p:spPr>
          <a:xfrm>
            <a:off x="320040" y="4251960"/>
            <a:ext cx="8503920" cy="640080"/>
          </a:xfrm>
          <a:prstGeom prst="roundRect">
            <a:avLst>
              <a:gd name="adj" fmla="val 11429"/>
            </a:avLst>
          </a:prstGeom>
          <a:solidFill>
            <a:srgbClr val="1A2535"/>
          </a:solidFill>
          <a:ln/>
          <a:effectLst>
            <a:outerShdw blurRad="101600" dist="38100" dir="2700000" algn="bl" rotWithShape="0">
              <a:srgbClr val="000000">
                <a:alpha val="25000"/>
              </a:srgbClr>
            </a:outerShdw>
          </a:effectLst>
        </p:spPr>
        <p:txBody>
          <a:bodyPr/>
          <a:lstStyle/>
          <a:p>
            <a:endParaRPr lang="es-ES"/>
          </a:p>
        </p:txBody>
      </p:sp>
      <p:sp>
        <p:nvSpPr>
          <p:cNvPr id="32" name="Text 29"/>
          <p:cNvSpPr/>
          <p:nvPr/>
        </p:nvSpPr>
        <p:spPr>
          <a:xfrm>
            <a:off x="502920" y="4315968"/>
            <a:ext cx="8229600" cy="320040"/>
          </a:xfrm>
          <a:prstGeom prst="rect">
            <a:avLst/>
          </a:prstGeom>
          <a:noFill/>
          <a:ln/>
        </p:spPr>
        <p:txBody>
          <a:bodyPr wrap="square" lIns="0" tIns="0" rIns="0" bIns="0" rtlCol="0" anchor="ctr"/>
          <a:lstStyle/>
          <a:p>
            <a:pPr marL="0" indent="0" algn="ctr">
              <a:buNone/>
            </a:pPr>
            <a:r>
              <a:rPr lang="en-US" sz="1150" dirty="0">
                <a:solidFill>
                  <a:srgbClr val="94A3B8"/>
                </a:solidFill>
                <a:latin typeface="Calibri" pitchFamily="34" charset="0"/>
                <a:ea typeface="Calibri" pitchFamily="34" charset="-122"/>
                <a:cs typeface="Calibri" pitchFamily="34" charset="-120"/>
              </a:rPr>
              <a:t>Validación adicional con segundo video (t80.mp4) para confirmar consistencia de resultados</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64592"/>
            <a:ext cx="8412480" cy="502920"/>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Línea Base: CPU OpenMP</a:t>
            </a:r>
            <a:endParaRPr lang="en-US" sz="2800" dirty="0"/>
          </a:p>
        </p:txBody>
      </p:sp>
      <p:sp>
        <p:nvSpPr>
          <p:cNvPr id="3" name="Text 1"/>
          <p:cNvSpPr/>
          <p:nvPr/>
        </p:nvSpPr>
        <p:spPr>
          <a:xfrm>
            <a:off x="365760" y="685800"/>
            <a:ext cx="8412480" cy="274320"/>
          </a:xfrm>
          <a:prstGeom prst="rect">
            <a:avLst/>
          </a:prstGeom>
          <a:noFill/>
          <a:ln/>
        </p:spPr>
        <p:txBody>
          <a:bodyPr wrap="square" lIns="0" tIns="0" rIns="0" bIns="0" rtlCol="0" anchor="ctr"/>
          <a:lstStyle/>
          <a:p>
            <a:pPr marL="0" indent="0" algn="l">
              <a:buNone/>
            </a:pPr>
            <a:r>
              <a:rPr lang="en-US" sz="1300" dirty="0">
                <a:solidFill>
                  <a:srgbClr val="94A3B8"/>
                </a:solidFill>
                <a:latin typeface="Calibri" pitchFamily="34" charset="0"/>
                <a:ea typeface="Calibri" pitchFamily="34" charset="-122"/>
                <a:cs typeface="Calibri" pitchFamily="34" charset="-120"/>
              </a:rPr>
              <a:t>Referencia de comparación para medir el speedup</a:t>
            </a:r>
            <a:endParaRPr lang="en-US" sz="1300" dirty="0"/>
          </a:p>
        </p:txBody>
      </p:sp>
      <p:sp>
        <p:nvSpPr>
          <p:cNvPr id="4" name="Shape 2"/>
          <p:cNvSpPr/>
          <p:nvPr/>
        </p:nvSpPr>
        <p:spPr>
          <a:xfrm>
            <a:off x="320040" y="960120"/>
            <a:ext cx="2029968" cy="1371600"/>
          </a:xfrm>
          <a:prstGeom prst="roundRect">
            <a:avLst>
              <a:gd name="adj" fmla="val 5333"/>
            </a:avLst>
          </a:prstGeom>
          <a:solidFill>
            <a:srgbClr val="1E2640"/>
          </a:solidFill>
          <a:ln/>
          <a:effectLst>
            <a:outerShdw blurRad="101600" dist="38100" dir="2700000" algn="bl" rotWithShape="0">
              <a:srgbClr val="000000">
                <a:alpha val="25000"/>
              </a:srgbClr>
            </a:outerShdw>
          </a:effectLst>
        </p:spPr>
        <p:txBody>
          <a:bodyPr/>
          <a:lstStyle/>
          <a:p>
            <a:endParaRPr lang="es-ES"/>
          </a:p>
        </p:txBody>
      </p:sp>
      <p:sp>
        <p:nvSpPr>
          <p:cNvPr id="5" name="Text 3"/>
          <p:cNvSpPr/>
          <p:nvPr/>
        </p:nvSpPr>
        <p:spPr>
          <a:xfrm>
            <a:off x="411480" y="1097280"/>
            <a:ext cx="1847088" cy="594360"/>
          </a:xfrm>
          <a:prstGeom prst="rect">
            <a:avLst/>
          </a:prstGeom>
          <a:noFill/>
          <a:ln/>
        </p:spPr>
        <p:txBody>
          <a:bodyPr wrap="square" lIns="0" tIns="0" rIns="0" bIns="0" rtlCol="0" anchor="ctr"/>
          <a:lstStyle/>
          <a:p>
            <a:pPr marL="0" indent="0" algn="ctr">
              <a:buNone/>
            </a:pPr>
            <a:r>
              <a:rPr lang="en-US" sz="2800" b="1" dirty="0">
                <a:solidFill>
                  <a:srgbClr val="3B82F6"/>
                </a:solidFill>
                <a:latin typeface="Calibri" pitchFamily="34" charset="0"/>
                <a:ea typeface="Calibri" pitchFamily="34" charset="-122"/>
                <a:cs typeface="Calibri" pitchFamily="34" charset="-120"/>
              </a:rPr>
              <a:t>5.591 ms</a:t>
            </a:r>
            <a:endParaRPr lang="en-US" sz="2800" dirty="0"/>
          </a:p>
        </p:txBody>
      </p:sp>
      <p:sp>
        <p:nvSpPr>
          <p:cNvPr id="6" name="Text 4"/>
          <p:cNvSpPr/>
          <p:nvPr/>
        </p:nvSpPr>
        <p:spPr>
          <a:xfrm>
            <a:off x="411480" y="1719072"/>
            <a:ext cx="1847088" cy="274320"/>
          </a:xfrm>
          <a:prstGeom prst="rect">
            <a:avLst/>
          </a:prstGeom>
          <a:noFill/>
          <a:ln/>
        </p:spPr>
        <p:txBody>
          <a:bodyPr wrap="square" lIns="0" tIns="0" rIns="0" bIns="0"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por frame</a:t>
            </a:r>
            <a:endParaRPr lang="en-US" sz="1100" dirty="0"/>
          </a:p>
        </p:txBody>
      </p:sp>
      <p:sp>
        <p:nvSpPr>
          <p:cNvPr id="7" name="Shape 5"/>
          <p:cNvSpPr/>
          <p:nvPr/>
        </p:nvSpPr>
        <p:spPr>
          <a:xfrm>
            <a:off x="2532888" y="960120"/>
            <a:ext cx="2029968" cy="1371600"/>
          </a:xfrm>
          <a:prstGeom prst="roundRect">
            <a:avLst>
              <a:gd name="adj" fmla="val 5333"/>
            </a:avLst>
          </a:prstGeom>
          <a:solidFill>
            <a:srgbClr val="1E2640"/>
          </a:solidFill>
          <a:ln/>
          <a:effectLst>
            <a:outerShdw blurRad="101600" dist="38100" dir="2700000" algn="bl" rotWithShape="0">
              <a:srgbClr val="000000">
                <a:alpha val="25000"/>
              </a:srgbClr>
            </a:outerShdw>
          </a:effectLst>
        </p:spPr>
        <p:txBody>
          <a:bodyPr/>
          <a:lstStyle/>
          <a:p>
            <a:endParaRPr lang="es-ES"/>
          </a:p>
        </p:txBody>
      </p:sp>
      <p:sp>
        <p:nvSpPr>
          <p:cNvPr id="8" name="Text 6"/>
          <p:cNvSpPr/>
          <p:nvPr/>
        </p:nvSpPr>
        <p:spPr>
          <a:xfrm>
            <a:off x="2624328" y="1097280"/>
            <a:ext cx="1847088" cy="594360"/>
          </a:xfrm>
          <a:prstGeom prst="rect">
            <a:avLst/>
          </a:prstGeom>
          <a:noFill/>
          <a:ln/>
        </p:spPr>
        <p:txBody>
          <a:bodyPr wrap="square" lIns="0" tIns="0" rIns="0" bIns="0" rtlCol="0" anchor="ctr"/>
          <a:lstStyle/>
          <a:p>
            <a:pPr marL="0" indent="0" algn="ctr">
              <a:buNone/>
            </a:pPr>
            <a:r>
              <a:rPr lang="en-US" sz="2800" b="1" dirty="0">
                <a:solidFill>
                  <a:srgbClr val="3B82F6"/>
                </a:solidFill>
                <a:latin typeface="Calibri" pitchFamily="34" charset="0"/>
                <a:ea typeface="Calibri" pitchFamily="34" charset="-122"/>
                <a:cs typeface="Calibri" pitchFamily="34" charset="-120"/>
              </a:rPr>
              <a:t>8.157 s</a:t>
            </a:r>
            <a:endParaRPr lang="en-US" sz="2800" dirty="0"/>
          </a:p>
        </p:txBody>
      </p:sp>
      <p:sp>
        <p:nvSpPr>
          <p:cNvPr id="9" name="Text 7"/>
          <p:cNvSpPr/>
          <p:nvPr/>
        </p:nvSpPr>
        <p:spPr>
          <a:xfrm>
            <a:off x="2624328" y="1719072"/>
            <a:ext cx="1847088" cy="274320"/>
          </a:xfrm>
          <a:prstGeom prst="rect">
            <a:avLst/>
          </a:prstGeom>
          <a:noFill/>
          <a:ln/>
        </p:spPr>
        <p:txBody>
          <a:bodyPr wrap="square" lIns="0" tIns="0" rIns="0" bIns="0"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tiempo total</a:t>
            </a:r>
            <a:endParaRPr lang="en-US" sz="1100" dirty="0"/>
          </a:p>
        </p:txBody>
      </p:sp>
      <p:sp>
        <p:nvSpPr>
          <p:cNvPr id="10" name="Shape 8"/>
          <p:cNvSpPr/>
          <p:nvPr/>
        </p:nvSpPr>
        <p:spPr>
          <a:xfrm>
            <a:off x="4745736" y="960120"/>
            <a:ext cx="2029968" cy="1371600"/>
          </a:xfrm>
          <a:prstGeom prst="roundRect">
            <a:avLst>
              <a:gd name="adj" fmla="val 5333"/>
            </a:avLst>
          </a:prstGeom>
          <a:solidFill>
            <a:srgbClr val="1E2640"/>
          </a:solidFill>
          <a:ln/>
          <a:effectLst>
            <a:outerShdw blurRad="101600" dist="38100" dir="2700000" algn="bl" rotWithShape="0">
              <a:srgbClr val="000000">
                <a:alpha val="25000"/>
              </a:srgbClr>
            </a:outerShdw>
          </a:effectLst>
        </p:spPr>
        <p:txBody>
          <a:bodyPr/>
          <a:lstStyle/>
          <a:p>
            <a:endParaRPr lang="es-ES"/>
          </a:p>
        </p:txBody>
      </p:sp>
      <p:sp>
        <p:nvSpPr>
          <p:cNvPr id="11" name="Text 9"/>
          <p:cNvSpPr/>
          <p:nvPr/>
        </p:nvSpPr>
        <p:spPr>
          <a:xfrm>
            <a:off x="4837176" y="1097280"/>
            <a:ext cx="1847088" cy="594360"/>
          </a:xfrm>
          <a:prstGeom prst="rect">
            <a:avLst/>
          </a:prstGeom>
          <a:noFill/>
          <a:ln/>
        </p:spPr>
        <p:txBody>
          <a:bodyPr wrap="square" lIns="0" tIns="0" rIns="0" bIns="0" rtlCol="0" anchor="ctr"/>
          <a:lstStyle/>
          <a:p>
            <a:pPr marL="0" indent="0" algn="ctr">
              <a:buNone/>
            </a:pPr>
            <a:r>
              <a:rPr lang="en-US" sz="2800" b="1" dirty="0">
                <a:solidFill>
                  <a:srgbClr val="22D3EE"/>
                </a:solidFill>
                <a:latin typeface="Calibri" pitchFamily="34" charset="0"/>
                <a:ea typeface="Calibri" pitchFamily="34" charset="-122"/>
                <a:cs typeface="Calibri" pitchFamily="34" charset="-120"/>
              </a:rPr>
              <a:t>16 hilos</a:t>
            </a:r>
            <a:endParaRPr lang="en-US" sz="2800" dirty="0"/>
          </a:p>
        </p:txBody>
      </p:sp>
      <p:sp>
        <p:nvSpPr>
          <p:cNvPr id="12" name="Text 10"/>
          <p:cNvSpPr/>
          <p:nvPr/>
        </p:nvSpPr>
        <p:spPr>
          <a:xfrm>
            <a:off x="4837176" y="1719072"/>
            <a:ext cx="1847088" cy="274320"/>
          </a:xfrm>
          <a:prstGeom prst="rect">
            <a:avLst/>
          </a:prstGeom>
          <a:noFill/>
          <a:ln/>
        </p:spPr>
        <p:txBody>
          <a:bodyPr wrap="square" lIns="0" tIns="0" rIns="0" bIns="0"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OpenMP</a:t>
            </a:r>
            <a:endParaRPr lang="en-US" sz="1100" dirty="0"/>
          </a:p>
        </p:txBody>
      </p:sp>
      <p:sp>
        <p:nvSpPr>
          <p:cNvPr id="13" name="Shape 11"/>
          <p:cNvSpPr/>
          <p:nvPr/>
        </p:nvSpPr>
        <p:spPr>
          <a:xfrm>
            <a:off x="6958584" y="960120"/>
            <a:ext cx="2029968" cy="1371600"/>
          </a:xfrm>
          <a:prstGeom prst="roundRect">
            <a:avLst>
              <a:gd name="adj" fmla="val 5333"/>
            </a:avLst>
          </a:prstGeom>
          <a:solidFill>
            <a:srgbClr val="1E2640"/>
          </a:solidFill>
          <a:ln/>
          <a:effectLst>
            <a:outerShdw blurRad="101600" dist="38100" dir="2700000" algn="bl" rotWithShape="0">
              <a:srgbClr val="000000">
                <a:alpha val="25000"/>
              </a:srgbClr>
            </a:outerShdw>
          </a:effectLst>
        </p:spPr>
        <p:txBody>
          <a:bodyPr/>
          <a:lstStyle/>
          <a:p>
            <a:endParaRPr lang="es-ES"/>
          </a:p>
        </p:txBody>
      </p:sp>
      <p:sp>
        <p:nvSpPr>
          <p:cNvPr id="14" name="Text 12"/>
          <p:cNvSpPr/>
          <p:nvPr/>
        </p:nvSpPr>
        <p:spPr>
          <a:xfrm>
            <a:off x="7050024" y="1097280"/>
            <a:ext cx="1847088" cy="594360"/>
          </a:xfrm>
          <a:prstGeom prst="rect">
            <a:avLst/>
          </a:prstGeom>
          <a:noFill/>
          <a:ln/>
        </p:spPr>
        <p:txBody>
          <a:bodyPr wrap="square" lIns="0" tIns="0" rIns="0" bIns="0" rtlCol="0" anchor="ctr"/>
          <a:lstStyle/>
          <a:p>
            <a:pPr marL="0" indent="0" algn="ctr">
              <a:buNone/>
            </a:pPr>
            <a:r>
              <a:rPr lang="en-US" sz="2800" b="1" dirty="0">
                <a:solidFill>
                  <a:srgbClr val="94A3B8"/>
                </a:solidFill>
                <a:latin typeface="Calibri" pitchFamily="34" charset="0"/>
                <a:ea typeface="Calibri" pitchFamily="34" charset="-122"/>
                <a:cs typeface="Calibri" pitchFamily="34" charset="-120"/>
              </a:rPr>
              <a:t>1×</a:t>
            </a:r>
            <a:endParaRPr lang="en-US" sz="2800" dirty="0"/>
          </a:p>
        </p:txBody>
      </p:sp>
      <p:sp>
        <p:nvSpPr>
          <p:cNvPr id="15" name="Text 13"/>
          <p:cNvSpPr/>
          <p:nvPr/>
        </p:nvSpPr>
        <p:spPr>
          <a:xfrm>
            <a:off x="7050024" y="1719072"/>
            <a:ext cx="1847088" cy="274320"/>
          </a:xfrm>
          <a:prstGeom prst="rect">
            <a:avLst/>
          </a:prstGeom>
          <a:noFill/>
          <a:ln/>
        </p:spPr>
        <p:txBody>
          <a:bodyPr wrap="square" lIns="0" tIns="0" rIns="0" bIns="0"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Speedup base</a:t>
            </a:r>
            <a:endParaRPr lang="en-US" sz="1100" dirty="0"/>
          </a:p>
        </p:txBody>
      </p:sp>
      <p:sp>
        <p:nvSpPr>
          <p:cNvPr id="16" name="Shape 14"/>
          <p:cNvSpPr/>
          <p:nvPr/>
        </p:nvSpPr>
        <p:spPr>
          <a:xfrm>
            <a:off x="320040" y="2468880"/>
            <a:ext cx="8503920" cy="1371600"/>
          </a:xfrm>
          <a:prstGeom prst="roundRect">
            <a:avLst>
              <a:gd name="adj" fmla="val 5333"/>
            </a:avLst>
          </a:prstGeom>
          <a:solidFill>
            <a:srgbClr val="1E2640"/>
          </a:solidFill>
          <a:ln/>
          <a:effectLst>
            <a:outerShdw blurRad="101600" dist="38100" dir="2700000" algn="bl" rotWithShape="0">
              <a:srgbClr val="000000">
                <a:alpha val="25000"/>
              </a:srgbClr>
            </a:outerShdw>
          </a:effectLst>
        </p:spPr>
        <p:txBody>
          <a:bodyPr/>
          <a:lstStyle/>
          <a:p>
            <a:endParaRPr lang="es-ES"/>
          </a:p>
        </p:txBody>
      </p:sp>
      <p:sp>
        <p:nvSpPr>
          <p:cNvPr id="17" name="Text 15"/>
          <p:cNvSpPr/>
          <p:nvPr/>
        </p:nvSpPr>
        <p:spPr>
          <a:xfrm>
            <a:off x="502920" y="2523744"/>
            <a:ext cx="8138160" cy="292608"/>
          </a:xfrm>
          <a:prstGeom prst="rect">
            <a:avLst/>
          </a:prstGeom>
          <a:noFill/>
          <a:ln/>
        </p:spPr>
        <p:txBody>
          <a:bodyPr wrap="square" lIns="0" tIns="0" rIns="0" bIns="0" rtlCol="0" anchor="ctr"/>
          <a:lstStyle/>
          <a:p>
            <a:pPr marL="0" indent="0">
              <a:buNone/>
            </a:pPr>
            <a:r>
              <a:rPr lang="en-US" sz="1300" b="1" dirty="0">
                <a:solidFill>
                  <a:srgbClr val="3B82F6"/>
                </a:solidFill>
                <a:latin typeface="Calibri" pitchFamily="34" charset="0"/>
                <a:ea typeface="Calibri" pitchFamily="34" charset="-122"/>
                <a:cs typeface="Calibri" pitchFamily="34" charset="-120"/>
              </a:rPr>
              <a:t>¿Cómo funciona la paralelización?</a:t>
            </a:r>
            <a:endParaRPr lang="en-US" sz="1300" dirty="0"/>
          </a:p>
        </p:txBody>
      </p:sp>
      <p:sp>
        <p:nvSpPr>
          <p:cNvPr id="18" name="Text 16"/>
          <p:cNvSpPr/>
          <p:nvPr/>
        </p:nvSpPr>
        <p:spPr>
          <a:xfrm>
            <a:off x="502920" y="2834640"/>
            <a:ext cx="8138160" cy="822960"/>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Los 16 hilos del procesador se reparten el frame: cada hilo toma un grupo de píxeles y los procesa de forma independiente. El trabajo se distribuye dinámicamente para mantener todos los hilos ocupados — los píxeles en los bordes del frame requieren más cómputo que los del centro.</a:t>
            </a:r>
            <a:endParaRPr lang="en-US" sz="1150" dirty="0"/>
          </a:p>
        </p:txBody>
      </p:sp>
      <p:sp>
        <p:nvSpPr>
          <p:cNvPr id="19" name="Shape 17"/>
          <p:cNvSpPr/>
          <p:nvPr/>
        </p:nvSpPr>
        <p:spPr>
          <a:xfrm>
            <a:off x="320040" y="3931920"/>
            <a:ext cx="8503920" cy="822960"/>
          </a:xfrm>
          <a:prstGeom prst="roundRect">
            <a:avLst>
              <a:gd name="adj" fmla="val 8889"/>
            </a:avLst>
          </a:prstGeom>
          <a:solidFill>
            <a:srgbClr val="2A1A1A"/>
          </a:solidFill>
          <a:ln/>
          <a:effectLst>
            <a:outerShdw blurRad="101600" dist="38100" dir="2700000" algn="bl" rotWithShape="0">
              <a:srgbClr val="000000">
                <a:alpha val="25000"/>
              </a:srgbClr>
            </a:outerShdw>
          </a:effectLst>
        </p:spPr>
        <p:txBody>
          <a:bodyPr/>
          <a:lstStyle/>
          <a:p>
            <a:endParaRPr lang="es-ES"/>
          </a:p>
        </p:txBody>
      </p:sp>
      <p:sp>
        <p:nvSpPr>
          <p:cNvPr id="20" name="Text 18"/>
          <p:cNvSpPr/>
          <p:nvPr/>
        </p:nvSpPr>
        <p:spPr>
          <a:xfrm>
            <a:off x="502920" y="3986784"/>
            <a:ext cx="1645920" cy="274320"/>
          </a:xfrm>
          <a:prstGeom prst="rect">
            <a:avLst/>
          </a:prstGeom>
          <a:noFill/>
          <a:ln/>
        </p:spPr>
        <p:txBody>
          <a:bodyPr wrap="square" lIns="0" tIns="0" rIns="0" bIns="0" rtlCol="0" anchor="ctr"/>
          <a:lstStyle/>
          <a:p>
            <a:pPr marL="0" indent="0">
              <a:buNone/>
            </a:pPr>
            <a:r>
              <a:rPr lang="en-US" sz="1200" b="1" dirty="0">
                <a:solidFill>
                  <a:srgbClr val="F59E0B"/>
                </a:solidFill>
                <a:latin typeface="Calibri" pitchFamily="34" charset="0"/>
                <a:ea typeface="Calibri" pitchFamily="34" charset="-122"/>
                <a:cs typeface="Calibri" pitchFamily="34" charset="-120"/>
              </a:rPr>
              <a:t>Limitación:</a:t>
            </a:r>
            <a:endParaRPr lang="en-US" sz="1200" dirty="0"/>
          </a:p>
        </p:txBody>
      </p:sp>
      <p:sp>
        <p:nvSpPr>
          <p:cNvPr id="21" name="Text 19"/>
          <p:cNvSpPr/>
          <p:nvPr/>
        </p:nvSpPr>
        <p:spPr>
          <a:xfrm>
            <a:off x="2148840" y="3986784"/>
            <a:ext cx="6492240" cy="548640"/>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El rendimiento está acotado por el ancho de banda de memoria del CPU. Pasar de 16 a 3.000 unidades de ejecución en GPU produce un salto de más de un orden de magnitud.</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64592"/>
            <a:ext cx="8412480" cy="502920"/>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Las 3 Estrategias Paralelas</a:t>
            </a:r>
            <a:endParaRPr lang="en-US" sz="2800" dirty="0"/>
          </a:p>
        </p:txBody>
      </p:sp>
      <p:sp>
        <p:nvSpPr>
          <p:cNvPr id="3" name="Text 1"/>
          <p:cNvSpPr/>
          <p:nvPr/>
        </p:nvSpPr>
        <p:spPr>
          <a:xfrm>
            <a:off x="365760" y="685800"/>
            <a:ext cx="8412480" cy="274320"/>
          </a:xfrm>
          <a:prstGeom prst="rect">
            <a:avLst/>
          </a:prstGeom>
          <a:noFill/>
          <a:ln/>
        </p:spPr>
        <p:txBody>
          <a:bodyPr wrap="square" lIns="0" tIns="0" rIns="0" bIns="0" rtlCol="0" anchor="ctr"/>
          <a:lstStyle/>
          <a:p>
            <a:pPr marL="0" indent="0" algn="l">
              <a:buNone/>
            </a:pPr>
            <a:r>
              <a:rPr lang="en-US" sz="1300" dirty="0">
                <a:solidFill>
                  <a:srgbClr val="94A3B8"/>
                </a:solidFill>
                <a:latin typeface="Calibri" pitchFamily="34" charset="0"/>
                <a:ea typeface="Calibri" pitchFamily="34" charset="-122"/>
                <a:cs typeface="Calibri" pitchFamily="34" charset="-120"/>
              </a:rPr>
              <a:t>Misma tarea, distinto hardware y nivel de paralelismo</a:t>
            </a:r>
            <a:endParaRPr lang="en-US" sz="1300" dirty="0"/>
          </a:p>
        </p:txBody>
      </p:sp>
      <p:sp>
        <p:nvSpPr>
          <p:cNvPr id="4" name="Shape 2"/>
          <p:cNvSpPr/>
          <p:nvPr/>
        </p:nvSpPr>
        <p:spPr>
          <a:xfrm>
            <a:off x="320040" y="1005840"/>
            <a:ext cx="8503920" cy="1143000"/>
          </a:xfrm>
          <a:prstGeom prst="roundRect">
            <a:avLst>
              <a:gd name="adj" fmla="val 6400"/>
            </a:avLst>
          </a:prstGeom>
          <a:solidFill>
            <a:srgbClr val="1E2640"/>
          </a:solidFill>
          <a:ln/>
          <a:effectLst>
            <a:outerShdw blurRad="101600" dist="38100" dir="2700000" algn="bl" rotWithShape="0">
              <a:srgbClr val="000000">
                <a:alpha val="25000"/>
              </a:srgbClr>
            </a:outerShdw>
          </a:effectLst>
        </p:spPr>
        <p:txBody>
          <a:bodyPr/>
          <a:lstStyle/>
          <a:p>
            <a:endParaRPr lang="es-ES"/>
          </a:p>
        </p:txBody>
      </p:sp>
      <p:sp>
        <p:nvSpPr>
          <p:cNvPr id="5" name="Shape 3"/>
          <p:cNvSpPr/>
          <p:nvPr/>
        </p:nvSpPr>
        <p:spPr>
          <a:xfrm>
            <a:off x="320040" y="1005840"/>
            <a:ext cx="2194560" cy="1143000"/>
          </a:xfrm>
          <a:prstGeom prst="roundRect">
            <a:avLst>
              <a:gd name="adj" fmla="val 6400"/>
            </a:avLst>
          </a:prstGeom>
          <a:solidFill>
            <a:srgbClr val="3B82F6">
              <a:alpha val="20000"/>
            </a:srgbClr>
          </a:solidFill>
          <a:ln/>
        </p:spPr>
        <p:txBody>
          <a:bodyPr/>
          <a:lstStyle/>
          <a:p>
            <a:endParaRPr lang="es-ES"/>
          </a:p>
        </p:txBody>
      </p:sp>
      <p:sp>
        <p:nvSpPr>
          <p:cNvPr id="6" name="Text 4"/>
          <p:cNvSpPr/>
          <p:nvPr/>
        </p:nvSpPr>
        <p:spPr>
          <a:xfrm>
            <a:off x="411480" y="1188720"/>
            <a:ext cx="2011680" cy="347472"/>
          </a:xfrm>
          <a:prstGeom prst="rect">
            <a:avLst/>
          </a:prstGeom>
          <a:noFill/>
          <a:ln/>
        </p:spPr>
        <p:txBody>
          <a:bodyPr wrap="square" lIns="0" tIns="0" rIns="0" bIns="0" rtlCol="0" anchor="ctr"/>
          <a:lstStyle/>
          <a:p>
            <a:pPr marL="0" indent="0" algn="ctr">
              <a:buNone/>
            </a:pPr>
            <a:r>
              <a:rPr lang="en-US" sz="1400" b="1" dirty="0">
                <a:solidFill>
                  <a:srgbClr val="3B82F6"/>
                </a:solidFill>
                <a:latin typeface="Calibri" pitchFamily="34" charset="0"/>
                <a:ea typeface="Calibri" pitchFamily="34" charset="-122"/>
                <a:cs typeface="Calibri" pitchFamily="34" charset="-120"/>
              </a:rPr>
              <a:t>CPU OpenMP</a:t>
            </a:r>
            <a:endParaRPr lang="en-US" sz="1400" dirty="0"/>
          </a:p>
        </p:txBody>
      </p:sp>
      <p:sp>
        <p:nvSpPr>
          <p:cNvPr id="7" name="Text 5"/>
          <p:cNvSpPr/>
          <p:nvPr/>
        </p:nvSpPr>
        <p:spPr>
          <a:xfrm>
            <a:off x="411480" y="1581912"/>
            <a:ext cx="2011680" cy="256032"/>
          </a:xfrm>
          <a:prstGeom prst="rect">
            <a:avLst/>
          </a:prstGeom>
          <a:noFill/>
          <a:ln/>
        </p:spPr>
        <p:txBody>
          <a:bodyPr wrap="square" lIns="0" tIns="0" rIns="0" bIns="0" rtlCol="0" anchor="ctr"/>
          <a:lstStyle/>
          <a:p>
            <a:pPr marL="0" indent="0" algn="ctr">
              <a:buNone/>
            </a:pPr>
            <a:r>
              <a:rPr lang="en-US" sz="950" dirty="0">
                <a:solidFill>
                  <a:srgbClr val="94A3B8"/>
                </a:solidFill>
                <a:latin typeface="Calibri" pitchFamily="34" charset="0"/>
                <a:ea typeface="Calibri" pitchFamily="34" charset="-122"/>
                <a:cs typeface="Calibri" pitchFamily="34" charset="-120"/>
              </a:rPr>
              <a:t>16 hilos de CPU</a:t>
            </a:r>
            <a:endParaRPr lang="en-US" sz="950" dirty="0"/>
          </a:p>
        </p:txBody>
      </p:sp>
      <p:sp>
        <p:nvSpPr>
          <p:cNvPr id="8" name="Text 6"/>
          <p:cNvSpPr/>
          <p:nvPr/>
        </p:nvSpPr>
        <p:spPr>
          <a:xfrm>
            <a:off x="2633472" y="1115568"/>
            <a:ext cx="4251960" cy="91440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Divide el frame entre 16 hilos de procesador. Cada hilo procesa su porción de píxeles de forma completamente independiente del resto.</a:t>
            </a:r>
            <a:endParaRPr lang="en-US" sz="1100" dirty="0"/>
          </a:p>
        </p:txBody>
      </p:sp>
      <p:sp>
        <p:nvSpPr>
          <p:cNvPr id="9" name="Shape 7"/>
          <p:cNvSpPr/>
          <p:nvPr/>
        </p:nvSpPr>
        <p:spPr>
          <a:xfrm>
            <a:off x="6995160" y="1115568"/>
            <a:ext cx="0" cy="914400"/>
          </a:xfrm>
          <a:prstGeom prst="line">
            <a:avLst/>
          </a:prstGeom>
          <a:noFill/>
          <a:ln w="12700">
            <a:solidFill>
              <a:srgbClr val="2D3A55"/>
            </a:solidFill>
            <a:prstDash val="solid"/>
          </a:ln>
        </p:spPr>
        <p:txBody>
          <a:bodyPr/>
          <a:lstStyle/>
          <a:p>
            <a:endParaRPr lang="es-ES"/>
          </a:p>
        </p:txBody>
      </p:sp>
      <p:sp>
        <p:nvSpPr>
          <p:cNvPr id="10" name="Text 8"/>
          <p:cNvSpPr/>
          <p:nvPr/>
        </p:nvSpPr>
        <p:spPr>
          <a:xfrm>
            <a:off x="7059168" y="1097280"/>
            <a:ext cx="1691640" cy="475488"/>
          </a:xfrm>
          <a:prstGeom prst="rect">
            <a:avLst/>
          </a:prstGeom>
          <a:noFill/>
          <a:ln/>
        </p:spPr>
        <p:txBody>
          <a:bodyPr wrap="square" lIns="0" tIns="0" rIns="0" bIns="0" rtlCol="0" anchor="ctr"/>
          <a:lstStyle/>
          <a:p>
            <a:pPr marL="0" indent="0" algn="ctr">
              <a:buNone/>
            </a:pPr>
            <a:r>
              <a:rPr lang="en-US" sz="1700" b="1" dirty="0">
                <a:solidFill>
                  <a:srgbClr val="3B82F6"/>
                </a:solidFill>
                <a:latin typeface="Calibri" pitchFamily="34" charset="0"/>
                <a:ea typeface="Calibri" pitchFamily="34" charset="-122"/>
                <a:cs typeface="Calibri" pitchFamily="34" charset="-120"/>
              </a:rPr>
              <a:t>5.590 ms/frame</a:t>
            </a:r>
            <a:endParaRPr lang="en-US" sz="1700" dirty="0"/>
          </a:p>
        </p:txBody>
      </p:sp>
      <p:sp>
        <p:nvSpPr>
          <p:cNvPr id="11" name="Text 9"/>
          <p:cNvSpPr/>
          <p:nvPr/>
        </p:nvSpPr>
        <p:spPr>
          <a:xfrm>
            <a:off x="7059168" y="1618488"/>
            <a:ext cx="1691640" cy="256032"/>
          </a:xfrm>
          <a:prstGeom prst="rect">
            <a:avLst/>
          </a:prstGeom>
          <a:noFill/>
          <a:ln/>
        </p:spPr>
        <p:txBody>
          <a:bodyPr wrap="square" lIns="0" tIns="0" rIns="0" bIns="0" rtlCol="0" anchor="ctr"/>
          <a:lstStyle/>
          <a:p>
            <a:pPr marL="0" indent="0" algn="ctr">
              <a:buNone/>
            </a:pPr>
            <a:r>
              <a:rPr lang="en-US" sz="950" dirty="0">
                <a:solidFill>
                  <a:srgbClr val="94A3B8"/>
                </a:solidFill>
                <a:latin typeface="Calibri" pitchFamily="34" charset="0"/>
                <a:ea typeface="Calibri" pitchFamily="34" charset="-122"/>
                <a:cs typeface="Calibri" pitchFamily="34" charset="-120"/>
              </a:rPr>
              <a:t>Línea base  ·  1×</a:t>
            </a:r>
            <a:endParaRPr lang="en-US" sz="950" dirty="0"/>
          </a:p>
        </p:txBody>
      </p:sp>
      <p:sp>
        <p:nvSpPr>
          <p:cNvPr id="12" name="Shape 10"/>
          <p:cNvSpPr/>
          <p:nvPr/>
        </p:nvSpPr>
        <p:spPr>
          <a:xfrm>
            <a:off x="320040" y="2267712"/>
            <a:ext cx="8503920" cy="1143000"/>
          </a:xfrm>
          <a:prstGeom prst="roundRect">
            <a:avLst>
              <a:gd name="adj" fmla="val 6400"/>
            </a:avLst>
          </a:prstGeom>
          <a:solidFill>
            <a:srgbClr val="1E2640"/>
          </a:solidFill>
          <a:ln/>
          <a:effectLst>
            <a:outerShdw blurRad="101600" dist="38100" dir="2700000" algn="bl" rotWithShape="0">
              <a:srgbClr val="000000">
                <a:alpha val="25000"/>
              </a:srgbClr>
            </a:outerShdw>
          </a:effectLst>
        </p:spPr>
        <p:txBody>
          <a:bodyPr/>
          <a:lstStyle/>
          <a:p>
            <a:endParaRPr lang="es-ES"/>
          </a:p>
        </p:txBody>
      </p:sp>
      <p:sp>
        <p:nvSpPr>
          <p:cNvPr id="13" name="Shape 11"/>
          <p:cNvSpPr/>
          <p:nvPr/>
        </p:nvSpPr>
        <p:spPr>
          <a:xfrm>
            <a:off x="320040" y="2267712"/>
            <a:ext cx="2194560" cy="1143000"/>
          </a:xfrm>
          <a:prstGeom prst="roundRect">
            <a:avLst>
              <a:gd name="adj" fmla="val 6400"/>
            </a:avLst>
          </a:prstGeom>
          <a:solidFill>
            <a:srgbClr val="10B981">
              <a:alpha val="20000"/>
            </a:srgbClr>
          </a:solidFill>
          <a:ln/>
        </p:spPr>
        <p:txBody>
          <a:bodyPr/>
          <a:lstStyle/>
          <a:p>
            <a:endParaRPr lang="es-ES"/>
          </a:p>
        </p:txBody>
      </p:sp>
      <p:sp>
        <p:nvSpPr>
          <p:cNvPr id="14" name="Text 12"/>
          <p:cNvSpPr/>
          <p:nvPr/>
        </p:nvSpPr>
        <p:spPr>
          <a:xfrm>
            <a:off x="411480" y="2450592"/>
            <a:ext cx="2011680" cy="347472"/>
          </a:xfrm>
          <a:prstGeom prst="rect">
            <a:avLst/>
          </a:prstGeom>
          <a:noFill/>
          <a:ln/>
        </p:spPr>
        <p:txBody>
          <a:bodyPr wrap="square" lIns="0" tIns="0" rIns="0" bIns="0" rtlCol="0" anchor="ctr"/>
          <a:lstStyle/>
          <a:p>
            <a:pPr marL="0" indent="0" algn="ctr">
              <a:buNone/>
            </a:pPr>
            <a:r>
              <a:rPr lang="en-US" sz="1400" b="1" dirty="0">
                <a:solidFill>
                  <a:srgbClr val="10B981"/>
                </a:solidFill>
                <a:latin typeface="Calibri" pitchFamily="34" charset="0"/>
                <a:ea typeface="Calibri" pitchFamily="34" charset="-122"/>
                <a:cs typeface="Calibri" pitchFamily="34" charset="-120"/>
              </a:rPr>
              <a:t>GPU CUDA Global</a:t>
            </a:r>
            <a:endParaRPr lang="en-US" sz="1400" dirty="0"/>
          </a:p>
        </p:txBody>
      </p:sp>
      <p:sp>
        <p:nvSpPr>
          <p:cNvPr id="15" name="Text 13"/>
          <p:cNvSpPr/>
          <p:nvPr/>
        </p:nvSpPr>
        <p:spPr>
          <a:xfrm>
            <a:off x="411480" y="2843784"/>
            <a:ext cx="2011680" cy="256032"/>
          </a:xfrm>
          <a:prstGeom prst="rect">
            <a:avLst/>
          </a:prstGeom>
          <a:noFill/>
          <a:ln/>
        </p:spPr>
        <p:txBody>
          <a:bodyPr wrap="square" lIns="0" tIns="0" rIns="0" bIns="0" rtlCol="0" anchor="ctr"/>
          <a:lstStyle/>
          <a:p>
            <a:pPr marL="0" indent="0" algn="ctr">
              <a:buNone/>
            </a:pPr>
            <a:r>
              <a:rPr lang="en-US" sz="950" dirty="0">
                <a:solidFill>
                  <a:srgbClr val="94A3B8"/>
                </a:solidFill>
                <a:latin typeface="Calibri" pitchFamily="34" charset="0"/>
                <a:ea typeface="Calibri" pitchFamily="34" charset="-122"/>
                <a:cs typeface="Calibri" pitchFamily="34" charset="-120"/>
              </a:rPr>
              <a:t>3.072 threads de GPU</a:t>
            </a:r>
            <a:endParaRPr lang="en-US" sz="950" dirty="0"/>
          </a:p>
        </p:txBody>
      </p:sp>
      <p:sp>
        <p:nvSpPr>
          <p:cNvPr id="16" name="Text 14"/>
          <p:cNvSpPr/>
          <p:nvPr/>
        </p:nvSpPr>
        <p:spPr>
          <a:xfrm>
            <a:off x="2633472" y="2377440"/>
            <a:ext cx="4251960" cy="91440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Cada uno de los 3.072 threads de GPU procesa exactamente un píxel del frame. Todos operan en paralelo accediendo directamente a la memoria principal de la GPU.</a:t>
            </a:r>
            <a:endParaRPr lang="en-US" sz="1100" dirty="0"/>
          </a:p>
        </p:txBody>
      </p:sp>
      <p:sp>
        <p:nvSpPr>
          <p:cNvPr id="17" name="Shape 15"/>
          <p:cNvSpPr/>
          <p:nvPr/>
        </p:nvSpPr>
        <p:spPr>
          <a:xfrm>
            <a:off x="6995160" y="2377440"/>
            <a:ext cx="0" cy="914400"/>
          </a:xfrm>
          <a:prstGeom prst="line">
            <a:avLst/>
          </a:prstGeom>
          <a:noFill/>
          <a:ln w="12700">
            <a:solidFill>
              <a:srgbClr val="2D3A55"/>
            </a:solidFill>
            <a:prstDash val="solid"/>
          </a:ln>
        </p:spPr>
        <p:txBody>
          <a:bodyPr/>
          <a:lstStyle/>
          <a:p>
            <a:endParaRPr lang="es-ES"/>
          </a:p>
        </p:txBody>
      </p:sp>
      <p:sp>
        <p:nvSpPr>
          <p:cNvPr id="18" name="Text 16"/>
          <p:cNvSpPr/>
          <p:nvPr/>
        </p:nvSpPr>
        <p:spPr>
          <a:xfrm>
            <a:off x="7059168" y="2359152"/>
            <a:ext cx="1691640" cy="475488"/>
          </a:xfrm>
          <a:prstGeom prst="rect">
            <a:avLst/>
          </a:prstGeom>
          <a:noFill/>
          <a:ln/>
        </p:spPr>
        <p:txBody>
          <a:bodyPr wrap="square" lIns="0" tIns="0" rIns="0" bIns="0" rtlCol="0" anchor="ctr"/>
          <a:lstStyle/>
          <a:p>
            <a:pPr marL="0" indent="0" algn="ctr">
              <a:buNone/>
            </a:pPr>
            <a:r>
              <a:rPr lang="en-US" sz="1700" b="1" dirty="0">
                <a:solidFill>
                  <a:srgbClr val="10B981"/>
                </a:solidFill>
                <a:latin typeface="Calibri" pitchFamily="34" charset="0"/>
                <a:ea typeface="Calibri" pitchFamily="34" charset="-122"/>
                <a:cs typeface="Calibri" pitchFamily="34" charset="-120"/>
              </a:rPr>
              <a:t>129 ms/frame</a:t>
            </a:r>
            <a:endParaRPr lang="en-US" sz="1700" dirty="0"/>
          </a:p>
        </p:txBody>
      </p:sp>
      <p:sp>
        <p:nvSpPr>
          <p:cNvPr id="19" name="Text 17"/>
          <p:cNvSpPr/>
          <p:nvPr/>
        </p:nvSpPr>
        <p:spPr>
          <a:xfrm>
            <a:off x="7059168" y="2880360"/>
            <a:ext cx="1691640" cy="256032"/>
          </a:xfrm>
          <a:prstGeom prst="rect">
            <a:avLst/>
          </a:prstGeom>
          <a:noFill/>
          <a:ln/>
        </p:spPr>
        <p:txBody>
          <a:bodyPr wrap="square" lIns="0" tIns="0" rIns="0" bIns="0" rtlCol="0" anchor="ctr"/>
          <a:lstStyle/>
          <a:p>
            <a:pPr marL="0" indent="0" algn="ctr">
              <a:buNone/>
            </a:pPr>
            <a:r>
              <a:rPr lang="en-US" sz="950" dirty="0">
                <a:solidFill>
                  <a:srgbClr val="94A3B8"/>
                </a:solidFill>
                <a:latin typeface="Calibri" pitchFamily="34" charset="0"/>
                <a:ea typeface="Calibri" pitchFamily="34" charset="-122"/>
                <a:cs typeface="Calibri" pitchFamily="34" charset="-120"/>
              </a:rPr>
              <a:t>Speedup  ·  43,2×</a:t>
            </a:r>
            <a:endParaRPr lang="en-US" sz="950" dirty="0"/>
          </a:p>
        </p:txBody>
      </p:sp>
      <p:sp>
        <p:nvSpPr>
          <p:cNvPr id="20" name="Shape 18"/>
          <p:cNvSpPr/>
          <p:nvPr/>
        </p:nvSpPr>
        <p:spPr>
          <a:xfrm>
            <a:off x="320040" y="3529584"/>
            <a:ext cx="8503920" cy="1143000"/>
          </a:xfrm>
          <a:prstGeom prst="roundRect">
            <a:avLst>
              <a:gd name="adj" fmla="val 6400"/>
            </a:avLst>
          </a:prstGeom>
          <a:solidFill>
            <a:srgbClr val="1E2640"/>
          </a:solidFill>
          <a:ln/>
          <a:effectLst>
            <a:outerShdw blurRad="101600" dist="38100" dir="2700000" algn="bl" rotWithShape="0">
              <a:srgbClr val="000000">
                <a:alpha val="25000"/>
              </a:srgbClr>
            </a:outerShdw>
          </a:effectLst>
        </p:spPr>
        <p:txBody>
          <a:bodyPr/>
          <a:lstStyle/>
          <a:p>
            <a:endParaRPr lang="es-ES"/>
          </a:p>
        </p:txBody>
      </p:sp>
      <p:sp>
        <p:nvSpPr>
          <p:cNvPr id="21" name="Shape 19"/>
          <p:cNvSpPr/>
          <p:nvPr/>
        </p:nvSpPr>
        <p:spPr>
          <a:xfrm>
            <a:off x="320040" y="3529584"/>
            <a:ext cx="2194560" cy="1143000"/>
          </a:xfrm>
          <a:prstGeom prst="roundRect">
            <a:avLst>
              <a:gd name="adj" fmla="val 6400"/>
            </a:avLst>
          </a:prstGeom>
          <a:solidFill>
            <a:srgbClr val="A78BFA">
              <a:alpha val="20000"/>
            </a:srgbClr>
          </a:solidFill>
          <a:ln/>
        </p:spPr>
        <p:txBody>
          <a:bodyPr/>
          <a:lstStyle/>
          <a:p>
            <a:endParaRPr lang="es-ES"/>
          </a:p>
        </p:txBody>
      </p:sp>
      <p:sp>
        <p:nvSpPr>
          <p:cNvPr id="22" name="Text 20"/>
          <p:cNvSpPr/>
          <p:nvPr/>
        </p:nvSpPr>
        <p:spPr>
          <a:xfrm>
            <a:off x="411480" y="3712464"/>
            <a:ext cx="2011680" cy="347472"/>
          </a:xfrm>
          <a:prstGeom prst="rect">
            <a:avLst/>
          </a:prstGeom>
          <a:noFill/>
          <a:ln/>
        </p:spPr>
        <p:txBody>
          <a:bodyPr wrap="square" lIns="0" tIns="0" rIns="0" bIns="0" rtlCol="0" anchor="ctr"/>
          <a:lstStyle/>
          <a:p>
            <a:pPr marL="0" indent="0" algn="ctr">
              <a:buNone/>
            </a:pPr>
            <a:r>
              <a:rPr lang="en-US" sz="1400" b="1" dirty="0">
                <a:solidFill>
                  <a:srgbClr val="A78BFA"/>
                </a:solidFill>
                <a:latin typeface="Calibri" pitchFamily="34" charset="0"/>
                <a:ea typeface="Calibri" pitchFamily="34" charset="-122"/>
                <a:cs typeface="Calibri" pitchFamily="34" charset="-120"/>
              </a:rPr>
              <a:t>GPU CUDA Shared</a:t>
            </a:r>
            <a:endParaRPr lang="en-US" sz="1400" dirty="0"/>
          </a:p>
        </p:txBody>
      </p:sp>
      <p:sp>
        <p:nvSpPr>
          <p:cNvPr id="23" name="Text 21"/>
          <p:cNvSpPr/>
          <p:nvPr/>
        </p:nvSpPr>
        <p:spPr>
          <a:xfrm>
            <a:off x="411480" y="4105656"/>
            <a:ext cx="2011680" cy="256032"/>
          </a:xfrm>
          <a:prstGeom prst="rect">
            <a:avLst/>
          </a:prstGeom>
          <a:noFill/>
          <a:ln/>
        </p:spPr>
        <p:txBody>
          <a:bodyPr wrap="square" lIns="0" tIns="0" rIns="0" bIns="0" rtlCol="0" anchor="ctr"/>
          <a:lstStyle/>
          <a:p>
            <a:pPr marL="0" indent="0" algn="ctr">
              <a:buNone/>
            </a:pPr>
            <a:r>
              <a:rPr lang="en-US" sz="950" dirty="0">
                <a:solidFill>
                  <a:srgbClr val="94A3B8"/>
                </a:solidFill>
                <a:latin typeface="Calibri" pitchFamily="34" charset="0"/>
                <a:ea typeface="Calibri" pitchFamily="34" charset="-122"/>
                <a:cs typeface="Calibri" pitchFamily="34" charset="-120"/>
              </a:rPr>
              <a:t>3.072 threads + mem. interna</a:t>
            </a:r>
            <a:endParaRPr lang="en-US" sz="950" dirty="0"/>
          </a:p>
        </p:txBody>
      </p:sp>
      <p:sp>
        <p:nvSpPr>
          <p:cNvPr id="24" name="Text 22"/>
          <p:cNvSpPr/>
          <p:nvPr/>
        </p:nvSpPr>
        <p:spPr>
          <a:xfrm>
            <a:off x="2633472" y="3639312"/>
            <a:ext cx="4251960" cy="91440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Igual que Global, pero cada grupo de threads carga primero una región del frame en la memoria interna del multiprocesador antes de calcular.</a:t>
            </a:r>
            <a:endParaRPr lang="en-US" sz="1100" dirty="0"/>
          </a:p>
        </p:txBody>
      </p:sp>
      <p:sp>
        <p:nvSpPr>
          <p:cNvPr id="25" name="Shape 23"/>
          <p:cNvSpPr/>
          <p:nvPr/>
        </p:nvSpPr>
        <p:spPr>
          <a:xfrm>
            <a:off x="6995160" y="3639312"/>
            <a:ext cx="0" cy="914400"/>
          </a:xfrm>
          <a:prstGeom prst="line">
            <a:avLst/>
          </a:prstGeom>
          <a:noFill/>
          <a:ln w="12700">
            <a:solidFill>
              <a:srgbClr val="2D3A55"/>
            </a:solidFill>
            <a:prstDash val="solid"/>
          </a:ln>
        </p:spPr>
        <p:txBody>
          <a:bodyPr/>
          <a:lstStyle/>
          <a:p>
            <a:endParaRPr lang="es-ES"/>
          </a:p>
        </p:txBody>
      </p:sp>
      <p:sp>
        <p:nvSpPr>
          <p:cNvPr id="26" name="Text 24"/>
          <p:cNvSpPr/>
          <p:nvPr/>
        </p:nvSpPr>
        <p:spPr>
          <a:xfrm>
            <a:off x="7059168" y="3621024"/>
            <a:ext cx="1691640" cy="475488"/>
          </a:xfrm>
          <a:prstGeom prst="rect">
            <a:avLst/>
          </a:prstGeom>
          <a:noFill/>
          <a:ln/>
        </p:spPr>
        <p:txBody>
          <a:bodyPr wrap="square" lIns="0" tIns="0" rIns="0" bIns="0" rtlCol="0" anchor="ctr"/>
          <a:lstStyle/>
          <a:p>
            <a:pPr marL="0" indent="0" algn="ctr">
              <a:buNone/>
            </a:pPr>
            <a:r>
              <a:rPr lang="en-US" sz="1700" b="1" dirty="0">
                <a:solidFill>
                  <a:srgbClr val="A78BFA"/>
                </a:solidFill>
                <a:latin typeface="Calibri" pitchFamily="34" charset="0"/>
                <a:ea typeface="Calibri" pitchFamily="34" charset="-122"/>
                <a:cs typeface="Calibri" pitchFamily="34" charset="-120"/>
              </a:rPr>
              <a:t>176 ms/frame</a:t>
            </a:r>
            <a:endParaRPr lang="en-US" sz="1700" dirty="0"/>
          </a:p>
        </p:txBody>
      </p:sp>
      <p:sp>
        <p:nvSpPr>
          <p:cNvPr id="27" name="Text 25"/>
          <p:cNvSpPr/>
          <p:nvPr/>
        </p:nvSpPr>
        <p:spPr>
          <a:xfrm>
            <a:off x="7059168" y="4142232"/>
            <a:ext cx="1691640" cy="256032"/>
          </a:xfrm>
          <a:prstGeom prst="rect">
            <a:avLst/>
          </a:prstGeom>
          <a:noFill/>
          <a:ln/>
        </p:spPr>
        <p:txBody>
          <a:bodyPr wrap="square" lIns="0" tIns="0" rIns="0" bIns="0" rtlCol="0" anchor="ctr"/>
          <a:lstStyle/>
          <a:p>
            <a:pPr marL="0" indent="0" algn="ctr">
              <a:buNone/>
            </a:pPr>
            <a:r>
              <a:rPr lang="en-US" sz="950" dirty="0">
                <a:solidFill>
                  <a:srgbClr val="94A3B8"/>
                </a:solidFill>
                <a:latin typeface="Calibri" pitchFamily="34" charset="0"/>
                <a:ea typeface="Calibri" pitchFamily="34" charset="-122"/>
                <a:cs typeface="Calibri" pitchFamily="34" charset="-120"/>
              </a:rPr>
              <a:t>Speedup  ·  31,7×</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64592"/>
            <a:ext cx="8412480" cy="502920"/>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Implementación</a:t>
            </a:r>
            <a:endParaRPr lang="en-US" sz="2800" dirty="0"/>
          </a:p>
        </p:txBody>
      </p:sp>
      <p:sp>
        <p:nvSpPr>
          <p:cNvPr id="3" name="Text 1"/>
          <p:cNvSpPr/>
          <p:nvPr/>
        </p:nvSpPr>
        <p:spPr>
          <a:xfrm>
            <a:off x="365760" y="685800"/>
            <a:ext cx="8412480" cy="274320"/>
          </a:xfrm>
          <a:prstGeom prst="rect">
            <a:avLst/>
          </a:prstGeom>
          <a:noFill/>
          <a:ln/>
        </p:spPr>
        <p:txBody>
          <a:bodyPr wrap="square" lIns="0" tIns="0" rIns="0" bIns="0" rtlCol="0" anchor="ctr"/>
          <a:lstStyle/>
          <a:p>
            <a:pPr marL="0" indent="0" algn="l">
              <a:buNone/>
            </a:pPr>
            <a:r>
              <a:rPr lang="en-US" sz="1300" dirty="0">
                <a:solidFill>
                  <a:srgbClr val="94A3B8"/>
                </a:solidFill>
                <a:latin typeface="Calibri" pitchFamily="34" charset="0"/>
                <a:ea typeface="Calibri" pitchFamily="34" charset="-122"/>
                <a:cs typeface="Calibri" pitchFamily="34" charset="-120"/>
              </a:rPr>
              <a:t>Estructura del repositorio y decisiones clave</a:t>
            </a:r>
            <a:endParaRPr lang="en-US" sz="1300" dirty="0"/>
          </a:p>
        </p:txBody>
      </p:sp>
      <p:pic>
        <p:nvPicPr>
          <p:cNvPr id="4" name="Image 0" descr="preencoded.png"/>
          <p:cNvPicPr>
            <a:picLocks noChangeAspect="1"/>
          </p:cNvPicPr>
          <p:nvPr/>
        </p:nvPicPr>
        <p:blipFill>
          <a:blip r:embed="rId4"/>
          <a:srcRect/>
          <a:stretch/>
        </p:blipFill>
        <p:spPr>
          <a:xfrm>
            <a:off x="320040" y="960120"/>
            <a:ext cx="4937760" cy="2926080"/>
          </a:xfrm>
          <a:prstGeom prst="rect">
            <a:avLst/>
          </a:prstGeom>
        </p:spPr>
      </p:pic>
      <p:sp>
        <p:nvSpPr>
          <p:cNvPr id="5" name="Shape 2"/>
          <p:cNvSpPr/>
          <p:nvPr/>
        </p:nvSpPr>
        <p:spPr>
          <a:xfrm>
            <a:off x="5394960" y="960120"/>
            <a:ext cx="3429000" cy="2926080"/>
          </a:xfrm>
          <a:prstGeom prst="roundRect">
            <a:avLst>
              <a:gd name="adj" fmla="val 2500"/>
            </a:avLst>
          </a:prstGeom>
          <a:solidFill>
            <a:srgbClr val="1E2640"/>
          </a:solidFill>
          <a:ln/>
          <a:effectLst>
            <a:outerShdw blurRad="101600" dist="38100" dir="2700000" algn="bl" rotWithShape="0">
              <a:srgbClr val="000000">
                <a:alpha val="25000"/>
              </a:srgbClr>
            </a:outerShdw>
          </a:effectLst>
        </p:spPr>
        <p:txBody>
          <a:bodyPr/>
          <a:lstStyle/>
          <a:p>
            <a:endParaRPr lang="es-ES"/>
          </a:p>
        </p:txBody>
      </p:sp>
      <p:sp>
        <p:nvSpPr>
          <p:cNvPr id="6" name="Text 3"/>
          <p:cNvSpPr/>
          <p:nvPr/>
        </p:nvSpPr>
        <p:spPr>
          <a:xfrm>
            <a:off x="5577840" y="1005840"/>
            <a:ext cx="3063240" cy="292608"/>
          </a:xfrm>
          <a:prstGeom prst="rect">
            <a:avLst/>
          </a:prstGeom>
          <a:noFill/>
          <a:ln/>
        </p:spPr>
        <p:txBody>
          <a:bodyPr wrap="square" lIns="0" tIns="0" rIns="0" bIns="0" rtlCol="0" anchor="ctr"/>
          <a:lstStyle/>
          <a:p>
            <a:pPr marL="0" indent="0">
              <a:buNone/>
            </a:pPr>
            <a:r>
              <a:rPr lang="en-US" sz="1300" b="1" dirty="0">
                <a:solidFill>
                  <a:srgbClr val="22D3EE"/>
                </a:solidFill>
                <a:latin typeface="Calibri" pitchFamily="34" charset="0"/>
                <a:ea typeface="Calibri" pitchFamily="34" charset="-122"/>
                <a:cs typeface="Calibri" pitchFamily="34" charset="-120"/>
              </a:rPr>
              <a:t>Decisiones Clave</a:t>
            </a:r>
            <a:endParaRPr lang="en-US" sz="1300" dirty="0"/>
          </a:p>
        </p:txBody>
      </p:sp>
      <p:sp>
        <p:nvSpPr>
          <p:cNvPr id="7" name="Text 4"/>
          <p:cNvSpPr/>
          <p:nvPr/>
        </p:nvSpPr>
        <p:spPr>
          <a:xfrm>
            <a:off x="5577840" y="1417320"/>
            <a:ext cx="3200400" cy="411480"/>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01. Memoria GPU pre-alocada — reserva unica antes del loop de frames</a:t>
            </a:r>
            <a:endParaRPr lang="en-US" sz="1050" dirty="0"/>
          </a:p>
        </p:txBody>
      </p:sp>
      <p:sp>
        <p:nvSpPr>
          <p:cNvPr id="8" name="Text 5"/>
          <p:cNvSpPr/>
          <p:nvPr/>
        </p:nvSpPr>
        <p:spPr>
          <a:xfrm>
            <a:off x="5577840" y="1892808"/>
            <a:ext cx="3200400" cy="411480"/>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02. Tiempo medido solo en el kernel, excluyendo transferencias CPU-GPU</a:t>
            </a:r>
            <a:endParaRPr lang="en-US" sz="1050" dirty="0"/>
          </a:p>
        </p:txBody>
      </p:sp>
      <p:sp>
        <p:nvSpPr>
          <p:cNvPr id="9" name="Text 6"/>
          <p:cNvSpPr/>
          <p:nvPr/>
        </p:nvSpPr>
        <p:spPr>
          <a:xfrm>
            <a:off x="5577840" y="2368296"/>
            <a:ext cx="3200400" cy="411480"/>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03. Scripts .bat para compilacion y ejecucion automatizadas</a:t>
            </a:r>
            <a:endParaRPr lang="en-US" sz="1050" dirty="0"/>
          </a:p>
        </p:txBody>
      </p:sp>
      <p:sp>
        <p:nvSpPr>
          <p:cNvPr id="10" name="Text 7"/>
          <p:cNvSpPr/>
          <p:nvPr/>
        </p:nvSpPr>
        <p:spPr>
          <a:xfrm>
            <a:off x="5577840" y="2843784"/>
            <a:ext cx="3200400" cy="411480"/>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04. Resultados en CSV + graficas automaticas con Python</a:t>
            </a:r>
            <a:endParaRPr lang="en-US" sz="1050" dirty="0"/>
          </a:p>
        </p:txBody>
      </p:sp>
      <p:sp>
        <p:nvSpPr>
          <p:cNvPr id="11" name="Text 8"/>
          <p:cNvSpPr/>
          <p:nvPr/>
        </p:nvSpPr>
        <p:spPr>
          <a:xfrm>
            <a:off x="5577840" y="3319272"/>
            <a:ext cx="3200400" cy="411480"/>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05. Nombre de salida derivado del video de entrada, sin sobreescrituras</a:t>
            </a:r>
            <a:endParaRPr lang="en-US" sz="1050" dirty="0"/>
          </a:p>
        </p:txBody>
      </p:sp>
      <p:sp>
        <p:nvSpPr>
          <p:cNvPr id="12" name="Shape 9"/>
          <p:cNvSpPr/>
          <p:nvPr/>
        </p:nvSpPr>
        <p:spPr>
          <a:xfrm>
            <a:off x="320040" y="3977640"/>
            <a:ext cx="8503920" cy="822960"/>
          </a:xfrm>
          <a:prstGeom prst="roundRect">
            <a:avLst>
              <a:gd name="adj" fmla="val 8889"/>
            </a:avLst>
          </a:prstGeom>
          <a:solidFill>
            <a:srgbClr val="1A2535"/>
          </a:solidFill>
          <a:ln/>
          <a:effectLst>
            <a:outerShdw blurRad="101600" dist="38100" dir="2700000" algn="bl" rotWithShape="0">
              <a:srgbClr val="000000">
                <a:alpha val="25000"/>
              </a:srgbClr>
            </a:outerShdw>
          </a:effectLst>
        </p:spPr>
        <p:txBody>
          <a:bodyPr/>
          <a:lstStyle/>
          <a:p>
            <a:endParaRPr lang="es-ES"/>
          </a:p>
        </p:txBody>
      </p:sp>
      <p:sp>
        <p:nvSpPr>
          <p:cNvPr id="13" name="Text 10"/>
          <p:cNvSpPr/>
          <p:nvPr/>
        </p:nvSpPr>
        <p:spPr>
          <a:xfrm>
            <a:off x="502920" y="4041648"/>
            <a:ext cx="8229600" cy="548640"/>
          </a:xfrm>
          <a:prstGeom prst="rect">
            <a:avLst/>
          </a:prstGeom>
          <a:noFill/>
          <a:ln/>
        </p:spPr>
        <p:txBody>
          <a:bodyPr wrap="square" lIns="0" tIns="0" rIns="0" bIns="0"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compilar.bat  →  nvcc -arch=sm_89  |  cl /O2 /openmp      ejecutar.bat  →  menú de selección de video + 3 versiones en secuencia</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64592"/>
            <a:ext cx="8412480" cy="502920"/>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Diseño Experimental</a:t>
            </a:r>
            <a:endParaRPr lang="en-US" sz="2800" dirty="0"/>
          </a:p>
        </p:txBody>
      </p:sp>
      <p:sp>
        <p:nvSpPr>
          <p:cNvPr id="3" name="Text 1"/>
          <p:cNvSpPr/>
          <p:nvPr/>
        </p:nvSpPr>
        <p:spPr>
          <a:xfrm>
            <a:off x="365760" y="685800"/>
            <a:ext cx="8412480" cy="274320"/>
          </a:xfrm>
          <a:prstGeom prst="rect">
            <a:avLst/>
          </a:prstGeom>
          <a:noFill/>
          <a:ln/>
        </p:spPr>
        <p:txBody>
          <a:bodyPr wrap="square" lIns="0" tIns="0" rIns="0" bIns="0" rtlCol="0" anchor="ctr"/>
          <a:lstStyle/>
          <a:p>
            <a:pPr marL="0" indent="0" algn="l">
              <a:buNone/>
            </a:pPr>
            <a:r>
              <a:rPr lang="en-US" sz="1300" dirty="0">
                <a:solidFill>
                  <a:srgbClr val="94A3B8"/>
                </a:solidFill>
                <a:latin typeface="Calibri" pitchFamily="34" charset="0"/>
                <a:ea typeface="Calibri" pitchFamily="34" charset="-122"/>
                <a:cs typeface="Calibri" pitchFamily="34" charset="-120"/>
              </a:rPr>
              <a:t>Variables controladas, medidas y protocolo de ejecución</a:t>
            </a:r>
            <a:endParaRPr lang="en-US" sz="1300" dirty="0"/>
          </a:p>
        </p:txBody>
      </p:sp>
      <p:sp>
        <p:nvSpPr>
          <p:cNvPr id="4" name="Shape 2"/>
          <p:cNvSpPr/>
          <p:nvPr/>
        </p:nvSpPr>
        <p:spPr>
          <a:xfrm>
            <a:off x="320040" y="960120"/>
            <a:ext cx="4023360" cy="2651760"/>
          </a:xfrm>
          <a:prstGeom prst="roundRect">
            <a:avLst>
              <a:gd name="adj" fmla="val 2759"/>
            </a:avLst>
          </a:prstGeom>
          <a:solidFill>
            <a:srgbClr val="1E2640"/>
          </a:solidFill>
          <a:ln/>
          <a:effectLst>
            <a:outerShdw blurRad="101600" dist="38100" dir="2700000" algn="bl" rotWithShape="0">
              <a:srgbClr val="000000">
                <a:alpha val="25000"/>
              </a:srgbClr>
            </a:outerShdw>
          </a:effectLst>
        </p:spPr>
        <p:txBody>
          <a:bodyPr/>
          <a:lstStyle/>
          <a:p>
            <a:endParaRPr lang="es-ES"/>
          </a:p>
        </p:txBody>
      </p:sp>
      <p:sp>
        <p:nvSpPr>
          <p:cNvPr id="5" name="Text 3"/>
          <p:cNvSpPr/>
          <p:nvPr/>
        </p:nvSpPr>
        <p:spPr>
          <a:xfrm>
            <a:off x="502920" y="1005840"/>
            <a:ext cx="3657600" cy="292608"/>
          </a:xfrm>
          <a:prstGeom prst="rect">
            <a:avLst/>
          </a:prstGeom>
          <a:noFill/>
          <a:ln/>
        </p:spPr>
        <p:txBody>
          <a:bodyPr wrap="square" lIns="0" tIns="0" rIns="0" bIns="0" rtlCol="0" anchor="ctr"/>
          <a:lstStyle/>
          <a:p>
            <a:pPr marL="0" indent="0">
              <a:buNone/>
            </a:pPr>
            <a:r>
              <a:rPr lang="en-US" sz="1300" b="1" dirty="0">
                <a:solidFill>
                  <a:srgbClr val="3B82F6"/>
                </a:solidFill>
                <a:latin typeface="Calibri" pitchFamily="34" charset="0"/>
                <a:ea typeface="Calibri" pitchFamily="34" charset="-122"/>
                <a:cs typeface="Calibri" pitchFamily="34" charset="-120"/>
              </a:rPr>
              <a:t>Variables Controladas</a:t>
            </a:r>
            <a:endParaRPr lang="en-US" sz="1300" dirty="0"/>
          </a:p>
        </p:txBody>
      </p:sp>
      <p:sp>
        <p:nvSpPr>
          <p:cNvPr id="6" name="Shape 4"/>
          <p:cNvSpPr/>
          <p:nvPr/>
        </p:nvSpPr>
        <p:spPr>
          <a:xfrm>
            <a:off x="502920" y="1545336"/>
            <a:ext cx="64008" cy="201168"/>
          </a:xfrm>
          <a:prstGeom prst="roundRect">
            <a:avLst>
              <a:gd name="adj" fmla="val 42857"/>
            </a:avLst>
          </a:prstGeom>
          <a:solidFill>
            <a:srgbClr val="3B82F6"/>
          </a:solidFill>
          <a:ln/>
        </p:spPr>
        <p:txBody>
          <a:bodyPr/>
          <a:lstStyle/>
          <a:p>
            <a:endParaRPr lang="es-ES"/>
          </a:p>
        </p:txBody>
      </p:sp>
      <p:sp>
        <p:nvSpPr>
          <p:cNvPr id="7" name="Text 5"/>
          <p:cNvSpPr/>
          <p:nvPr/>
        </p:nvSpPr>
        <p:spPr>
          <a:xfrm>
            <a:off x="640080" y="1481328"/>
            <a:ext cx="3401568" cy="420624"/>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Video idéntico para las 3 versiones</a:t>
            </a:r>
            <a:endParaRPr lang="en-US" sz="1150" dirty="0"/>
          </a:p>
        </p:txBody>
      </p:sp>
      <p:sp>
        <p:nvSpPr>
          <p:cNvPr id="8" name="Shape 6"/>
          <p:cNvSpPr/>
          <p:nvPr/>
        </p:nvSpPr>
        <p:spPr>
          <a:xfrm>
            <a:off x="502920" y="2075688"/>
            <a:ext cx="64008" cy="201168"/>
          </a:xfrm>
          <a:prstGeom prst="roundRect">
            <a:avLst>
              <a:gd name="adj" fmla="val 42857"/>
            </a:avLst>
          </a:prstGeom>
          <a:solidFill>
            <a:srgbClr val="3B82F6"/>
          </a:solidFill>
          <a:ln/>
        </p:spPr>
        <p:txBody>
          <a:bodyPr/>
          <a:lstStyle/>
          <a:p>
            <a:endParaRPr lang="es-ES"/>
          </a:p>
        </p:txBody>
      </p:sp>
      <p:sp>
        <p:nvSpPr>
          <p:cNvPr id="9" name="Text 7"/>
          <p:cNvSpPr/>
          <p:nvPr/>
        </p:nvSpPr>
        <p:spPr>
          <a:xfrm>
            <a:off x="640080" y="2011680"/>
            <a:ext cx="3401568" cy="420624"/>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Parámetros NLM-C fijos (parche 7×7, h=10)</a:t>
            </a:r>
            <a:endParaRPr lang="en-US" sz="1150" dirty="0"/>
          </a:p>
        </p:txBody>
      </p:sp>
      <p:sp>
        <p:nvSpPr>
          <p:cNvPr id="10" name="Shape 8"/>
          <p:cNvSpPr/>
          <p:nvPr/>
        </p:nvSpPr>
        <p:spPr>
          <a:xfrm>
            <a:off x="502920" y="2606040"/>
            <a:ext cx="64008" cy="201168"/>
          </a:xfrm>
          <a:prstGeom prst="roundRect">
            <a:avLst>
              <a:gd name="adj" fmla="val 42857"/>
            </a:avLst>
          </a:prstGeom>
          <a:solidFill>
            <a:srgbClr val="3B82F6"/>
          </a:solidFill>
          <a:ln/>
        </p:spPr>
        <p:txBody>
          <a:bodyPr/>
          <a:lstStyle/>
          <a:p>
            <a:endParaRPr lang="es-ES"/>
          </a:p>
        </p:txBody>
      </p:sp>
      <p:sp>
        <p:nvSpPr>
          <p:cNvPr id="11" name="Text 9"/>
          <p:cNvSpPr/>
          <p:nvPr/>
        </p:nvSpPr>
        <p:spPr>
          <a:xfrm>
            <a:off x="640080" y="2542032"/>
            <a:ext cx="3401568" cy="420624"/>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1.459 frames — video completo</a:t>
            </a:r>
            <a:endParaRPr lang="en-US" sz="1150" dirty="0"/>
          </a:p>
        </p:txBody>
      </p:sp>
      <p:sp>
        <p:nvSpPr>
          <p:cNvPr id="12" name="Shape 10"/>
          <p:cNvSpPr/>
          <p:nvPr/>
        </p:nvSpPr>
        <p:spPr>
          <a:xfrm>
            <a:off x="502920" y="3136392"/>
            <a:ext cx="64008" cy="201168"/>
          </a:xfrm>
          <a:prstGeom prst="roundRect">
            <a:avLst>
              <a:gd name="adj" fmla="val 42857"/>
            </a:avLst>
          </a:prstGeom>
          <a:solidFill>
            <a:srgbClr val="3B82F6"/>
          </a:solidFill>
          <a:ln/>
        </p:spPr>
        <p:txBody>
          <a:bodyPr/>
          <a:lstStyle/>
          <a:p>
            <a:endParaRPr lang="es-ES"/>
          </a:p>
        </p:txBody>
      </p:sp>
      <p:sp>
        <p:nvSpPr>
          <p:cNvPr id="13" name="Text 11"/>
          <p:cNvSpPr/>
          <p:nvPr/>
        </p:nvSpPr>
        <p:spPr>
          <a:xfrm>
            <a:off x="640080" y="3072384"/>
            <a:ext cx="3401568" cy="420624"/>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Ruido artificial reproducible</a:t>
            </a:r>
            <a:endParaRPr lang="en-US" sz="1150" dirty="0"/>
          </a:p>
        </p:txBody>
      </p:sp>
      <p:sp>
        <p:nvSpPr>
          <p:cNvPr id="14" name="Shape 12"/>
          <p:cNvSpPr/>
          <p:nvPr/>
        </p:nvSpPr>
        <p:spPr>
          <a:xfrm>
            <a:off x="4480560" y="960120"/>
            <a:ext cx="4343400" cy="2651760"/>
          </a:xfrm>
          <a:prstGeom prst="roundRect">
            <a:avLst>
              <a:gd name="adj" fmla="val 2759"/>
            </a:avLst>
          </a:prstGeom>
          <a:solidFill>
            <a:srgbClr val="1E2640"/>
          </a:solidFill>
          <a:ln/>
          <a:effectLst>
            <a:outerShdw blurRad="101600" dist="38100" dir="2700000" algn="bl" rotWithShape="0">
              <a:srgbClr val="000000">
                <a:alpha val="25000"/>
              </a:srgbClr>
            </a:outerShdw>
          </a:effectLst>
        </p:spPr>
        <p:txBody>
          <a:bodyPr/>
          <a:lstStyle/>
          <a:p>
            <a:endParaRPr lang="es-ES"/>
          </a:p>
        </p:txBody>
      </p:sp>
      <p:sp>
        <p:nvSpPr>
          <p:cNvPr id="15" name="Text 13"/>
          <p:cNvSpPr/>
          <p:nvPr/>
        </p:nvSpPr>
        <p:spPr>
          <a:xfrm>
            <a:off x="4663440" y="1005840"/>
            <a:ext cx="3977640" cy="292608"/>
          </a:xfrm>
          <a:prstGeom prst="rect">
            <a:avLst/>
          </a:prstGeom>
          <a:noFill/>
          <a:ln/>
        </p:spPr>
        <p:txBody>
          <a:bodyPr wrap="square" lIns="0" tIns="0" rIns="0" bIns="0" rtlCol="0" anchor="ctr"/>
          <a:lstStyle/>
          <a:p>
            <a:pPr marL="0" indent="0">
              <a:buNone/>
            </a:pPr>
            <a:r>
              <a:rPr lang="en-US" sz="1300" b="1" dirty="0">
                <a:solidFill>
                  <a:srgbClr val="10B981"/>
                </a:solidFill>
                <a:latin typeface="Calibri" pitchFamily="34" charset="0"/>
                <a:ea typeface="Calibri" pitchFamily="34" charset="-122"/>
                <a:cs typeface="Calibri" pitchFamily="34" charset="-120"/>
              </a:rPr>
              <a:t>Variables Medidas</a:t>
            </a:r>
            <a:endParaRPr lang="en-US" sz="1300" dirty="0"/>
          </a:p>
        </p:txBody>
      </p:sp>
      <p:sp>
        <p:nvSpPr>
          <p:cNvPr id="16" name="Text 14"/>
          <p:cNvSpPr/>
          <p:nvPr/>
        </p:nvSpPr>
        <p:spPr>
          <a:xfrm>
            <a:off x="4846320" y="1389888"/>
            <a:ext cx="3749040" cy="256032"/>
          </a:xfrm>
          <a:prstGeom prst="rect">
            <a:avLst/>
          </a:prstGeom>
          <a:noFill/>
          <a:ln/>
        </p:spPr>
        <p:txBody>
          <a:bodyPr wrap="square" lIns="0" tIns="0" rIns="0" bIns="0" rtlCol="0" anchor="ctr"/>
          <a:lstStyle/>
          <a:p>
            <a:pPr marL="0" indent="0">
              <a:buNone/>
            </a:pPr>
            <a:r>
              <a:rPr lang="en-US" sz="1150" b="1" dirty="0">
                <a:solidFill>
                  <a:srgbClr val="10B981"/>
                </a:solidFill>
                <a:latin typeface="Calibri" pitchFamily="34" charset="0"/>
                <a:ea typeface="Calibri" pitchFamily="34" charset="-122"/>
                <a:cs typeface="Calibri" pitchFamily="34" charset="-120"/>
              </a:rPr>
              <a:t>Tiempo por frame (ms)</a:t>
            </a:r>
            <a:endParaRPr lang="en-US" sz="1150" dirty="0"/>
          </a:p>
        </p:txBody>
      </p:sp>
      <p:sp>
        <p:nvSpPr>
          <p:cNvPr id="17" name="Text 15"/>
          <p:cNvSpPr/>
          <p:nvPr/>
        </p:nvSpPr>
        <p:spPr>
          <a:xfrm>
            <a:off x="4846320" y="1645920"/>
            <a:ext cx="3749040" cy="201168"/>
          </a:xfrm>
          <a:prstGeom prst="rect">
            <a:avLst/>
          </a:prstGeom>
          <a:noFill/>
          <a:ln/>
        </p:spPr>
        <p:txBody>
          <a:bodyPr wrap="square" lIns="0" tIns="0" rIns="0" bIns="0" rtlCol="0" anchor="ctr"/>
          <a:lstStyle/>
          <a:p>
            <a:pPr marL="0" indent="0">
              <a:buNone/>
            </a:pPr>
            <a:r>
              <a:rPr lang="en-US" sz="1050" dirty="0">
                <a:solidFill>
                  <a:srgbClr val="94A3B8"/>
                </a:solidFill>
                <a:latin typeface="Calibri" pitchFamily="34" charset="0"/>
                <a:ea typeface="Calibri" pitchFamily="34" charset="-122"/>
                <a:cs typeface="Calibri" pitchFamily="34" charset="-120"/>
              </a:rPr>
              <a:t>promedio del video completo</a:t>
            </a:r>
            <a:endParaRPr lang="en-US" sz="1050" dirty="0"/>
          </a:p>
        </p:txBody>
      </p:sp>
      <p:sp>
        <p:nvSpPr>
          <p:cNvPr id="18" name="Text 16"/>
          <p:cNvSpPr/>
          <p:nvPr/>
        </p:nvSpPr>
        <p:spPr>
          <a:xfrm>
            <a:off x="4846320" y="1938528"/>
            <a:ext cx="3749040" cy="256032"/>
          </a:xfrm>
          <a:prstGeom prst="rect">
            <a:avLst/>
          </a:prstGeom>
          <a:noFill/>
          <a:ln/>
        </p:spPr>
        <p:txBody>
          <a:bodyPr wrap="square" lIns="0" tIns="0" rIns="0" bIns="0" rtlCol="0" anchor="ctr"/>
          <a:lstStyle/>
          <a:p>
            <a:pPr marL="0" indent="0">
              <a:buNone/>
            </a:pPr>
            <a:r>
              <a:rPr lang="en-US" sz="1150" b="1" dirty="0">
                <a:solidFill>
                  <a:srgbClr val="10B981"/>
                </a:solidFill>
                <a:latin typeface="Calibri" pitchFamily="34" charset="0"/>
                <a:ea typeface="Calibri" pitchFamily="34" charset="-122"/>
                <a:cs typeface="Calibri" pitchFamily="34" charset="-120"/>
              </a:rPr>
              <a:t>Tiempo total (s)</a:t>
            </a:r>
            <a:endParaRPr lang="en-US" sz="1150" dirty="0"/>
          </a:p>
        </p:txBody>
      </p:sp>
      <p:sp>
        <p:nvSpPr>
          <p:cNvPr id="19" name="Text 17"/>
          <p:cNvSpPr/>
          <p:nvPr/>
        </p:nvSpPr>
        <p:spPr>
          <a:xfrm>
            <a:off x="4846320" y="2194560"/>
            <a:ext cx="3749040" cy="201168"/>
          </a:xfrm>
          <a:prstGeom prst="rect">
            <a:avLst/>
          </a:prstGeom>
          <a:noFill/>
          <a:ln/>
        </p:spPr>
        <p:txBody>
          <a:bodyPr wrap="square" lIns="0" tIns="0" rIns="0" bIns="0" rtlCol="0" anchor="ctr"/>
          <a:lstStyle/>
          <a:p>
            <a:pPr marL="0" indent="0">
              <a:buNone/>
            </a:pPr>
            <a:r>
              <a:rPr lang="en-US" sz="1050" dirty="0">
                <a:solidFill>
                  <a:srgbClr val="94A3B8"/>
                </a:solidFill>
                <a:latin typeface="Calibri" pitchFamily="34" charset="0"/>
                <a:ea typeface="Calibri" pitchFamily="34" charset="-122"/>
                <a:cs typeface="Calibri" pitchFamily="34" charset="-120"/>
              </a:rPr>
              <a:t>video completo</a:t>
            </a:r>
            <a:endParaRPr lang="en-US" sz="1050" dirty="0"/>
          </a:p>
        </p:txBody>
      </p:sp>
      <p:sp>
        <p:nvSpPr>
          <p:cNvPr id="20" name="Text 18"/>
          <p:cNvSpPr/>
          <p:nvPr/>
        </p:nvSpPr>
        <p:spPr>
          <a:xfrm>
            <a:off x="4846320" y="2487168"/>
            <a:ext cx="3749040" cy="256032"/>
          </a:xfrm>
          <a:prstGeom prst="rect">
            <a:avLst/>
          </a:prstGeom>
          <a:noFill/>
          <a:ln/>
        </p:spPr>
        <p:txBody>
          <a:bodyPr wrap="square" lIns="0" tIns="0" rIns="0" bIns="0" rtlCol="0" anchor="ctr"/>
          <a:lstStyle/>
          <a:p>
            <a:pPr marL="0" indent="0">
              <a:buNone/>
            </a:pPr>
            <a:r>
              <a:rPr lang="en-US" sz="1150" b="1" dirty="0">
                <a:solidFill>
                  <a:srgbClr val="10B981"/>
                </a:solidFill>
                <a:latin typeface="Calibri" pitchFamily="34" charset="0"/>
                <a:ea typeface="Calibri" pitchFamily="34" charset="-122"/>
                <a:cs typeface="Calibri" pitchFamily="34" charset="-120"/>
              </a:rPr>
              <a:t>Speedup</a:t>
            </a:r>
            <a:endParaRPr lang="en-US" sz="1150" dirty="0"/>
          </a:p>
        </p:txBody>
      </p:sp>
      <p:sp>
        <p:nvSpPr>
          <p:cNvPr id="21" name="Text 19"/>
          <p:cNvSpPr/>
          <p:nvPr/>
        </p:nvSpPr>
        <p:spPr>
          <a:xfrm>
            <a:off x="4846320" y="2743200"/>
            <a:ext cx="3749040" cy="201168"/>
          </a:xfrm>
          <a:prstGeom prst="rect">
            <a:avLst/>
          </a:prstGeom>
          <a:noFill/>
          <a:ln/>
        </p:spPr>
        <p:txBody>
          <a:bodyPr wrap="square" lIns="0" tIns="0" rIns="0" bIns="0" rtlCol="0" anchor="ctr"/>
          <a:lstStyle/>
          <a:p>
            <a:pPr marL="0" indent="0">
              <a:buNone/>
            </a:pPr>
            <a:r>
              <a:rPr lang="en-US" sz="1050" dirty="0">
                <a:solidFill>
                  <a:srgbClr val="94A3B8"/>
                </a:solidFill>
                <a:latin typeface="Calibri" pitchFamily="34" charset="0"/>
                <a:ea typeface="Calibri" pitchFamily="34" charset="-122"/>
                <a:cs typeface="Calibri" pitchFamily="34" charset="-120"/>
              </a:rPr>
              <a:t>tiempo CPU dividido por tiempo GPU</a:t>
            </a:r>
            <a:endParaRPr lang="en-US" sz="1050" dirty="0"/>
          </a:p>
        </p:txBody>
      </p:sp>
      <p:sp>
        <p:nvSpPr>
          <p:cNvPr id="22" name="Text 20"/>
          <p:cNvSpPr/>
          <p:nvPr/>
        </p:nvSpPr>
        <p:spPr>
          <a:xfrm>
            <a:off x="4846320" y="3035808"/>
            <a:ext cx="3749040" cy="256032"/>
          </a:xfrm>
          <a:prstGeom prst="rect">
            <a:avLst/>
          </a:prstGeom>
          <a:noFill/>
          <a:ln/>
        </p:spPr>
        <p:txBody>
          <a:bodyPr wrap="square" lIns="0" tIns="0" rIns="0" bIns="0" rtlCol="0" anchor="ctr"/>
          <a:lstStyle/>
          <a:p>
            <a:pPr marL="0" indent="0">
              <a:buNone/>
            </a:pPr>
            <a:r>
              <a:rPr lang="en-US" sz="1150" b="1" dirty="0">
                <a:solidFill>
                  <a:srgbClr val="10B981"/>
                </a:solidFill>
                <a:latin typeface="Calibri" pitchFamily="34" charset="0"/>
                <a:ea typeface="Calibri" pitchFamily="34" charset="-122"/>
                <a:cs typeface="Calibri" pitchFamily="34" charset="-120"/>
              </a:rPr>
              <a:t>Calidad visual</a:t>
            </a:r>
            <a:endParaRPr lang="en-US" sz="1150" dirty="0"/>
          </a:p>
        </p:txBody>
      </p:sp>
      <p:sp>
        <p:nvSpPr>
          <p:cNvPr id="23" name="Text 21"/>
          <p:cNvSpPr/>
          <p:nvPr/>
        </p:nvSpPr>
        <p:spPr>
          <a:xfrm>
            <a:off x="4846320" y="3291840"/>
            <a:ext cx="3749040" cy="201168"/>
          </a:xfrm>
          <a:prstGeom prst="rect">
            <a:avLst/>
          </a:prstGeom>
          <a:noFill/>
          <a:ln/>
        </p:spPr>
        <p:txBody>
          <a:bodyPr wrap="square" lIns="0" tIns="0" rIns="0" bIns="0" rtlCol="0" anchor="ctr"/>
          <a:lstStyle/>
          <a:p>
            <a:pPr marL="0" indent="0">
              <a:buNone/>
            </a:pPr>
            <a:r>
              <a:rPr lang="en-US" sz="1050" dirty="0">
                <a:solidFill>
                  <a:srgbClr val="94A3B8"/>
                </a:solidFill>
                <a:latin typeface="Calibri" pitchFamily="34" charset="0"/>
                <a:ea typeface="Calibri" pitchFamily="34" charset="-122"/>
                <a:cs typeface="Calibri" pitchFamily="34" charset="-120"/>
              </a:rPr>
              <a:t>comparación de frames</a:t>
            </a:r>
            <a:endParaRPr lang="en-US" sz="1050" dirty="0"/>
          </a:p>
        </p:txBody>
      </p:sp>
      <p:sp>
        <p:nvSpPr>
          <p:cNvPr id="24" name="Shape 22"/>
          <p:cNvSpPr/>
          <p:nvPr/>
        </p:nvSpPr>
        <p:spPr>
          <a:xfrm>
            <a:off x="320040" y="3703320"/>
            <a:ext cx="8503920" cy="1325880"/>
          </a:xfrm>
          <a:prstGeom prst="roundRect">
            <a:avLst>
              <a:gd name="adj" fmla="val 5517"/>
            </a:avLst>
          </a:prstGeom>
          <a:solidFill>
            <a:srgbClr val="1E2640"/>
          </a:solidFill>
          <a:ln/>
          <a:effectLst>
            <a:outerShdw blurRad="101600" dist="38100" dir="2700000" algn="bl" rotWithShape="0">
              <a:srgbClr val="000000">
                <a:alpha val="25000"/>
              </a:srgbClr>
            </a:outerShdw>
          </a:effectLst>
        </p:spPr>
        <p:txBody>
          <a:bodyPr/>
          <a:lstStyle/>
          <a:p>
            <a:endParaRPr lang="es-ES"/>
          </a:p>
        </p:txBody>
      </p:sp>
      <p:sp>
        <p:nvSpPr>
          <p:cNvPr id="25" name="Text 23"/>
          <p:cNvSpPr/>
          <p:nvPr/>
        </p:nvSpPr>
        <p:spPr>
          <a:xfrm>
            <a:off x="502920" y="3749040"/>
            <a:ext cx="8138160" cy="274320"/>
          </a:xfrm>
          <a:prstGeom prst="rect">
            <a:avLst/>
          </a:prstGeom>
          <a:noFill/>
          <a:ln/>
        </p:spPr>
        <p:txBody>
          <a:bodyPr wrap="square" lIns="0" tIns="0" rIns="0" bIns="0" rtlCol="0" anchor="ctr"/>
          <a:lstStyle/>
          <a:p>
            <a:pPr marL="0" indent="0">
              <a:buNone/>
            </a:pPr>
            <a:r>
              <a:rPr lang="en-US" sz="1300" b="1" dirty="0">
                <a:solidFill>
                  <a:srgbClr val="F59E0B"/>
                </a:solidFill>
                <a:latin typeface="Calibri" pitchFamily="34" charset="0"/>
                <a:ea typeface="Calibri" pitchFamily="34" charset="-122"/>
                <a:cs typeface="Calibri" pitchFamily="34" charset="-120"/>
              </a:rPr>
              <a:t>Protocolo</a:t>
            </a:r>
            <a:endParaRPr lang="en-US" sz="1300" dirty="0"/>
          </a:p>
        </p:txBody>
      </p:sp>
      <p:sp>
        <p:nvSpPr>
          <p:cNvPr id="26" name="Shape 24"/>
          <p:cNvSpPr/>
          <p:nvPr/>
        </p:nvSpPr>
        <p:spPr>
          <a:xfrm>
            <a:off x="457200" y="4069080"/>
            <a:ext cx="292608" cy="292608"/>
          </a:xfrm>
          <a:prstGeom prst="roundRect">
            <a:avLst>
              <a:gd name="adj" fmla="val 18750"/>
            </a:avLst>
          </a:prstGeom>
          <a:solidFill>
            <a:srgbClr val="F59E0B"/>
          </a:solidFill>
          <a:ln/>
        </p:spPr>
        <p:txBody>
          <a:bodyPr/>
          <a:lstStyle/>
          <a:p>
            <a:endParaRPr lang="es-ES"/>
          </a:p>
        </p:txBody>
      </p:sp>
      <p:sp>
        <p:nvSpPr>
          <p:cNvPr id="27" name="Text 25"/>
          <p:cNvSpPr/>
          <p:nvPr/>
        </p:nvSpPr>
        <p:spPr>
          <a:xfrm>
            <a:off x="457200" y="4069080"/>
            <a:ext cx="292608" cy="292608"/>
          </a:xfrm>
          <a:prstGeom prst="rect">
            <a:avLst/>
          </a:prstGeom>
          <a:noFill/>
          <a:ln/>
        </p:spPr>
        <p:txBody>
          <a:bodyPr wrap="square" lIns="0" tIns="0" rIns="0" bIns="0" rtlCol="0" anchor="ctr"/>
          <a:lstStyle/>
          <a:p>
            <a:pPr marL="0" indent="0" algn="ctr">
              <a:buNone/>
            </a:pPr>
            <a:r>
              <a:rPr lang="en-US" sz="1100" b="1" dirty="0">
                <a:solidFill>
                  <a:srgbClr val="181D2F"/>
                </a:solidFill>
                <a:latin typeface="Calibri" pitchFamily="34" charset="0"/>
                <a:ea typeface="Calibri" pitchFamily="34" charset="-122"/>
                <a:cs typeface="Calibri" pitchFamily="34" charset="-120"/>
              </a:rPr>
              <a:t>1</a:t>
            </a:r>
            <a:endParaRPr lang="en-US" sz="1100" dirty="0"/>
          </a:p>
        </p:txBody>
      </p:sp>
      <p:sp>
        <p:nvSpPr>
          <p:cNvPr id="28" name="Text 26"/>
          <p:cNvSpPr/>
          <p:nvPr/>
        </p:nvSpPr>
        <p:spPr>
          <a:xfrm>
            <a:off x="822960" y="4069080"/>
            <a:ext cx="3474720" cy="20116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Compilar</a:t>
            </a:r>
            <a:endParaRPr lang="en-US" sz="1200" dirty="0"/>
          </a:p>
        </p:txBody>
      </p:sp>
      <p:sp>
        <p:nvSpPr>
          <p:cNvPr id="29" name="Text 27"/>
          <p:cNvSpPr/>
          <p:nvPr/>
        </p:nvSpPr>
        <p:spPr>
          <a:xfrm>
            <a:off x="822960" y="4270248"/>
            <a:ext cx="3474720" cy="182880"/>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compilar.bat genera las 3 versiones</a:t>
            </a:r>
            <a:endParaRPr lang="en-US" sz="1000" dirty="0"/>
          </a:p>
        </p:txBody>
      </p:sp>
      <p:sp>
        <p:nvSpPr>
          <p:cNvPr id="30" name="Shape 28"/>
          <p:cNvSpPr/>
          <p:nvPr/>
        </p:nvSpPr>
        <p:spPr>
          <a:xfrm>
            <a:off x="4709160" y="4069080"/>
            <a:ext cx="292608" cy="292608"/>
          </a:xfrm>
          <a:prstGeom prst="roundRect">
            <a:avLst>
              <a:gd name="adj" fmla="val 18750"/>
            </a:avLst>
          </a:prstGeom>
          <a:solidFill>
            <a:srgbClr val="F59E0B"/>
          </a:solidFill>
          <a:ln/>
        </p:spPr>
        <p:txBody>
          <a:bodyPr/>
          <a:lstStyle/>
          <a:p>
            <a:endParaRPr lang="es-ES"/>
          </a:p>
        </p:txBody>
      </p:sp>
      <p:sp>
        <p:nvSpPr>
          <p:cNvPr id="31" name="Text 29"/>
          <p:cNvSpPr/>
          <p:nvPr/>
        </p:nvSpPr>
        <p:spPr>
          <a:xfrm>
            <a:off x="4709160" y="4069080"/>
            <a:ext cx="292608" cy="292608"/>
          </a:xfrm>
          <a:prstGeom prst="rect">
            <a:avLst/>
          </a:prstGeom>
          <a:noFill/>
          <a:ln/>
        </p:spPr>
        <p:txBody>
          <a:bodyPr wrap="square" lIns="0" tIns="0" rIns="0" bIns="0" rtlCol="0" anchor="ctr"/>
          <a:lstStyle/>
          <a:p>
            <a:pPr marL="0" indent="0" algn="ctr">
              <a:buNone/>
            </a:pPr>
            <a:r>
              <a:rPr lang="en-US" sz="1100" b="1" dirty="0">
                <a:solidFill>
                  <a:srgbClr val="181D2F"/>
                </a:solidFill>
                <a:latin typeface="Calibri" pitchFamily="34" charset="0"/>
                <a:ea typeface="Calibri" pitchFamily="34" charset="-122"/>
                <a:cs typeface="Calibri" pitchFamily="34" charset="-120"/>
              </a:rPr>
              <a:t>2</a:t>
            </a:r>
            <a:endParaRPr lang="en-US" sz="1100" dirty="0"/>
          </a:p>
        </p:txBody>
      </p:sp>
      <p:sp>
        <p:nvSpPr>
          <p:cNvPr id="32" name="Text 30"/>
          <p:cNvSpPr/>
          <p:nvPr/>
        </p:nvSpPr>
        <p:spPr>
          <a:xfrm>
            <a:off x="5074920" y="4069080"/>
            <a:ext cx="3474720" cy="20116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Ejecutar</a:t>
            </a:r>
            <a:endParaRPr lang="en-US" sz="1200" dirty="0"/>
          </a:p>
        </p:txBody>
      </p:sp>
      <p:sp>
        <p:nvSpPr>
          <p:cNvPr id="33" name="Text 31"/>
          <p:cNvSpPr/>
          <p:nvPr/>
        </p:nvSpPr>
        <p:spPr>
          <a:xfrm>
            <a:off x="5074920" y="4270248"/>
            <a:ext cx="3474720" cy="182880"/>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ejecutar.bat procesa el video elegido</a:t>
            </a:r>
            <a:endParaRPr lang="en-US" sz="1000" dirty="0"/>
          </a:p>
        </p:txBody>
      </p:sp>
      <p:sp>
        <p:nvSpPr>
          <p:cNvPr id="34" name="Shape 32"/>
          <p:cNvSpPr/>
          <p:nvPr/>
        </p:nvSpPr>
        <p:spPr>
          <a:xfrm>
            <a:off x="457200" y="4526280"/>
            <a:ext cx="292608" cy="292608"/>
          </a:xfrm>
          <a:prstGeom prst="roundRect">
            <a:avLst>
              <a:gd name="adj" fmla="val 18750"/>
            </a:avLst>
          </a:prstGeom>
          <a:solidFill>
            <a:srgbClr val="F59E0B"/>
          </a:solidFill>
          <a:ln/>
        </p:spPr>
        <p:txBody>
          <a:bodyPr/>
          <a:lstStyle/>
          <a:p>
            <a:endParaRPr lang="es-ES"/>
          </a:p>
        </p:txBody>
      </p:sp>
      <p:sp>
        <p:nvSpPr>
          <p:cNvPr id="35" name="Text 33"/>
          <p:cNvSpPr/>
          <p:nvPr/>
        </p:nvSpPr>
        <p:spPr>
          <a:xfrm>
            <a:off x="457200" y="4526280"/>
            <a:ext cx="292608" cy="292608"/>
          </a:xfrm>
          <a:prstGeom prst="rect">
            <a:avLst/>
          </a:prstGeom>
          <a:noFill/>
          <a:ln/>
        </p:spPr>
        <p:txBody>
          <a:bodyPr wrap="square" lIns="0" tIns="0" rIns="0" bIns="0" rtlCol="0" anchor="ctr"/>
          <a:lstStyle/>
          <a:p>
            <a:pPr marL="0" indent="0" algn="ctr">
              <a:buNone/>
            </a:pPr>
            <a:r>
              <a:rPr lang="en-US" sz="1100" b="1" dirty="0">
                <a:solidFill>
                  <a:srgbClr val="181D2F"/>
                </a:solidFill>
                <a:latin typeface="Calibri" pitchFamily="34" charset="0"/>
                <a:ea typeface="Calibri" pitchFamily="34" charset="-122"/>
                <a:cs typeface="Calibri" pitchFamily="34" charset="-120"/>
              </a:rPr>
              <a:t>3</a:t>
            </a:r>
            <a:endParaRPr lang="en-US" sz="1100" dirty="0"/>
          </a:p>
        </p:txBody>
      </p:sp>
      <p:sp>
        <p:nvSpPr>
          <p:cNvPr id="36" name="Text 34"/>
          <p:cNvSpPr/>
          <p:nvPr/>
        </p:nvSpPr>
        <p:spPr>
          <a:xfrm>
            <a:off x="822960" y="4526280"/>
            <a:ext cx="3474720" cy="20116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Registrar</a:t>
            </a:r>
            <a:endParaRPr lang="en-US" sz="1200" dirty="0"/>
          </a:p>
        </p:txBody>
      </p:sp>
      <p:sp>
        <p:nvSpPr>
          <p:cNvPr id="37" name="Text 35"/>
          <p:cNvSpPr/>
          <p:nvPr/>
        </p:nvSpPr>
        <p:spPr>
          <a:xfrm>
            <a:off x="822960" y="4727448"/>
            <a:ext cx="3474720" cy="182880"/>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métricas guardadas automáticamente en CSV</a:t>
            </a:r>
            <a:endParaRPr lang="en-US" sz="1000" dirty="0"/>
          </a:p>
        </p:txBody>
      </p:sp>
      <p:sp>
        <p:nvSpPr>
          <p:cNvPr id="38" name="Shape 36"/>
          <p:cNvSpPr/>
          <p:nvPr/>
        </p:nvSpPr>
        <p:spPr>
          <a:xfrm>
            <a:off x="4709160" y="4526280"/>
            <a:ext cx="292608" cy="292608"/>
          </a:xfrm>
          <a:prstGeom prst="roundRect">
            <a:avLst>
              <a:gd name="adj" fmla="val 18750"/>
            </a:avLst>
          </a:prstGeom>
          <a:solidFill>
            <a:srgbClr val="F59E0B"/>
          </a:solidFill>
          <a:ln/>
        </p:spPr>
        <p:txBody>
          <a:bodyPr/>
          <a:lstStyle/>
          <a:p>
            <a:endParaRPr lang="es-ES"/>
          </a:p>
        </p:txBody>
      </p:sp>
      <p:sp>
        <p:nvSpPr>
          <p:cNvPr id="39" name="Text 37"/>
          <p:cNvSpPr/>
          <p:nvPr/>
        </p:nvSpPr>
        <p:spPr>
          <a:xfrm>
            <a:off x="4709160" y="4526280"/>
            <a:ext cx="292608" cy="292608"/>
          </a:xfrm>
          <a:prstGeom prst="rect">
            <a:avLst/>
          </a:prstGeom>
          <a:noFill/>
          <a:ln/>
        </p:spPr>
        <p:txBody>
          <a:bodyPr wrap="square" lIns="0" tIns="0" rIns="0" bIns="0" rtlCol="0" anchor="ctr"/>
          <a:lstStyle/>
          <a:p>
            <a:pPr marL="0" indent="0" algn="ctr">
              <a:buNone/>
            </a:pPr>
            <a:r>
              <a:rPr lang="en-US" sz="1100" b="1" dirty="0">
                <a:solidFill>
                  <a:srgbClr val="181D2F"/>
                </a:solidFill>
                <a:latin typeface="Calibri" pitchFamily="34" charset="0"/>
                <a:ea typeface="Calibri" pitchFamily="34" charset="-122"/>
                <a:cs typeface="Calibri" pitchFamily="34" charset="-120"/>
              </a:rPr>
              <a:t>4</a:t>
            </a:r>
            <a:endParaRPr lang="en-US" sz="1100" dirty="0"/>
          </a:p>
        </p:txBody>
      </p:sp>
      <p:sp>
        <p:nvSpPr>
          <p:cNvPr id="40" name="Text 38"/>
          <p:cNvSpPr/>
          <p:nvPr/>
        </p:nvSpPr>
        <p:spPr>
          <a:xfrm>
            <a:off x="5074920" y="4526280"/>
            <a:ext cx="3474720" cy="20116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Visualizar</a:t>
            </a:r>
            <a:endParaRPr lang="en-US" sz="1200" dirty="0"/>
          </a:p>
        </p:txBody>
      </p:sp>
      <p:sp>
        <p:nvSpPr>
          <p:cNvPr id="41" name="Text 39"/>
          <p:cNvSpPr/>
          <p:nvPr/>
        </p:nvSpPr>
        <p:spPr>
          <a:xfrm>
            <a:off x="5074920" y="4727448"/>
            <a:ext cx="3474720" cy="182880"/>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graficar.py genera las gráficas PNG</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64592"/>
            <a:ext cx="8412480" cy="502920"/>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Resultados</a:t>
            </a:r>
            <a:endParaRPr lang="en-US" sz="2800" dirty="0"/>
          </a:p>
        </p:txBody>
      </p:sp>
      <p:sp>
        <p:nvSpPr>
          <p:cNvPr id="3" name="Text 1"/>
          <p:cNvSpPr/>
          <p:nvPr/>
        </p:nvSpPr>
        <p:spPr>
          <a:xfrm>
            <a:off x="365760" y="685800"/>
            <a:ext cx="8412480" cy="274320"/>
          </a:xfrm>
          <a:prstGeom prst="rect">
            <a:avLst/>
          </a:prstGeom>
          <a:noFill/>
          <a:ln/>
        </p:spPr>
        <p:txBody>
          <a:bodyPr wrap="square" lIns="0" tIns="0" rIns="0" bIns="0" rtlCol="0" anchor="ctr"/>
          <a:lstStyle/>
          <a:p>
            <a:pPr marL="0" indent="0" algn="l">
              <a:buNone/>
            </a:pPr>
            <a:r>
              <a:rPr lang="en-US" sz="1300" dirty="0">
                <a:solidFill>
                  <a:srgbClr val="94A3B8"/>
                </a:solidFill>
                <a:latin typeface="Calibri" pitchFamily="34" charset="0"/>
                <a:ea typeface="Calibri" pitchFamily="34" charset="-122"/>
                <a:cs typeface="Calibri" pitchFamily="34" charset="-120"/>
              </a:rPr>
              <a:t>Tiempos de procesamiento y speedup</a:t>
            </a:r>
            <a:endParaRPr lang="en-US" sz="1300" dirty="0"/>
          </a:p>
        </p:txBody>
      </p:sp>
      <p:sp>
        <p:nvSpPr>
          <p:cNvPr id="4" name="Shape 2"/>
          <p:cNvSpPr/>
          <p:nvPr/>
        </p:nvSpPr>
        <p:spPr>
          <a:xfrm>
            <a:off x="320040" y="960120"/>
            <a:ext cx="2029968" cy="1325880"/>
          </a:xfrm>
          <a:prstGeom prst="roundRect">
            <a:avLst>
              <a:gd name="adj" fmla="val 5517"/>
            </a:avLst>
          </a:prstGeom>
          <a:solidFill>
            <a:srgbClr val="1E2640"/>
          </a:solidFill>
          <a:ln/>
          <a:effectLst>
            <a:outerShdw blurRad="101600" dist="38100" dir="2700000" algn="bl" rotWithShape="0">
              <a:srgbClr val="000000">
                <a:alpha val="25000"/>
              </a:srgbClr>
            </a:outerShdw>
          </a:effectLst>
        </p:spPr>
        <p:txBody>
          <a:bodyPr/>
          <a:lstStyle/>
          <a:p>
            <a:endParaRPr lang="es-ES"/>
          </a:p>
        </p:txBody>
      </p:sp>
      <p:sp>
        <p:nvSpPr>
          <p:cNvPr id="5" name="Text 3"/>
          <p:cNvSpPr/>
          <p:nvPr/>
        </p:nvSpPr>
        <p:spPr>
          <a:xfrm>
            <a:off x="411480" y="1005840"/>
            <a:ext cx="1847088" cy="256032"/>
          </a:xfrm>
          <a:prstGeom prst="rect">
            <a:avLst/>
          </a:prstGeom>
          <a:noFill/>
          <a:ln/>
        </p:spPr>
        <p:txBody>
          <a:bodyPr wrap="square" lIns="0" tIns="0" rIns="0" bIns="0" rtlCol="0" anchor="ctr"/>
          <a:lstStyle/>
          <a:p>
            <a:pPr marL="0" indent="0" algn="ctr">
              <a:buNone/>
            </a:pPr>
            <a:r>
              <a:rPr lang="en-US" sz="1050" b="1" dirty="0">
                <a:solidFill>
                  <a:srgbClr val="3B82F6"/>
                </a:solidFill>
                <a:latin typeface="Calibri" pitchFamily="34" charset="0"/>
                <a:ea typeface="Calibri" pitchFamily="34" charset="-122"/>
                <a:cs typeface="Calibri" pitchFamily="34" charset="-120"/>
              </a:rPr>
              <a:t>CPU OpenMP</a:t>
            </a:r>
            <a:endParaRPr lang="en-US" sz="1050" dirty="0"/>
          </a:p>
        </p:txBody>
      </p:sp>
      <p:sp>
        <p:nvSpPr>
          <p:cNvPr id="6" name="Text 4"/>
          <p:cNvSpPr/>
          <p:nvPr/>
        </p:nvSpPr>
        <p:spPr>
          <a:xfrm>
            <a:off x="411480" y="1280160"/>
            <a:ext cx="1847088" cy="45720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5.591 ms/frame</a:t>
            </a:r>
            <a:endParaRPr lang="en-US" sz="2000" dirty="0"/>
          </a:p>
        </p:txBody>
      </p:sp>
      <p:sp>
        <p:nvSpPr>
          <p:cNvPr id="7" name="Text 5"/>
          <p:cNvSpPr/>
          <p:nvPr/>
        </p:nvSpPr>
        <p:spPr>
          <a:xfrm>
            <a:off x="411480" y="1764792"/>
            <a:ext cx="1847088" cy="228600"/>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136 min total</a:t>
            </a:r>
            <a:endParaRPr lang="en-US" sz="1000" dirty="0"/>
          </a:p>
        </p:txBody>
      </p:sp>
      <p:sp>
        <p:nvSpPr>
          <p:cNvPr id="8" name="Shape 6"/>
          <p:cNvSpPr/>
          <p:nvPr/>
        </p:nvSpPr>
        <p:spPr>
          <a:xfrm>
            <a:off x="2532888" y="960120"/>
            <a:ext cx="2029968" cy="1325880"/>
          </a:xfrm>
          <a:prstGeom prst="roundRect">
            <a:avLst>
              <a:gd name="adj" fmla="val 5517"/>
            </a:avLst>
          </a:prstGeom>
          <a:solidFill>
            <a:srgbClr val="1E2640"/>
          </a:solidFill>
          <a:ln/>
          <a:effectLst>
            <a:outerShdw blurRad="101600" dist="38100" dir="2700000" algn="bl" rotWithShape="0">
              <a:srgbClr val="000000">
                <a:alpha val="25000"/>
              </a:srgbClr>
            </a:outerShdw>
          </a:effectLst>
        </p:spPr>
        <p:txBody>
          <a:bodyPr/>
          <a:lstStyle/>
          <a:p>
            <a:endParaRPr lang="es-ES"/>
          </a:p>
        </p:txBody>
      </p:sp>
      <p:sp>
        <p:nvSpPr>
          <p:cNvPr id="9" name="Text 7"/>
          <p:cNvSpPr/>
          <p:nvPr/>
        </p:nvSpPr>
        <p:spPr>
          <a:xfrm>
            <a:off x="2624328" y="1005840"/>
            <a:ext cx="1847088" cy="256032"/>
          </a:xfrm>
          <a:prstGeom prst="rect">
            <a:avLst/>
          </a:prstGeom>
          <a:noFill/>
          <a:ln/>
        </p:spPr>
        <p:txBody>
          <a:bodyPr wrap="square" lIns="0" tIns="0" rIns="0" bIns="0" rtlCol="0" anchor="ctr"/>
          <a:lstStyle/>
          <a:p>
            <a:pPr marL="0" indent="0" algn="ctr">
              <a:buNone/>
            </a:pPr>
            <a:r>
              <a:rPr lang="en-US" sz="1050" b="1" dirty="0">
                <a:solidFill>
                  <a:srgbClr val="10B981"/>
                </a:solidFill>
                <a:latin typeface="Calibri" pitchFamily="34" charset="0"/>
                <a:ea typeface="Calibri" pitchFamily="34" charset="-122"/>
                <a:cs typeface="Calibri" pitchFamily="34" charset="-120"/>
              </a:rPr>
              <a:t>GPU Global</a:t>
            </a:r>
            <a:endParaRPr lang="en-US" sz="1050" dirty="0"/>
          </a:p>
        </p:txBody>
      </p:sp>
      <p:sp>
        <p:nvSpPr>
          <p:cNvPr id="10" name="Text 8"/>
          <p:cNvSpPr/>
          <p:nvPr/>
        </p:nvSpPr>
        <p:spPr>
          <a:xfrm>
            <a:off x="2624328" y="1280160"/>
            <a:ext cx="1847088" cy="45720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129 ms/frame</a:t>
            </a:r>
            <a:endParaRPr lang="en-US" sz="2000" dirty="0"/>
          </a:p>
        </p:txBody>
      </p:sp>
      <p:sp>
        <p:nvSpPr>
          <p:cNvPr id="11" name="Text 9"/>
          <p:cNvSpPr/>
          <p:nvPr/>
        </p:nvSpPr>
        <p:spPr>
          <a:xfrm>
            <a:off x="2624328" y="1764792"/>
            <a:ext cx="1847088" cy="228600"/>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3,1 min total</a:t>
            </a:r>
            <a:endParaRPr lang="en-US" sz="1000" dirty="0"/>
          </a:p>
        </p:txBody>
      </p:sp>
      <p:sp>
        <p:nvSpPr>
          <p:cNvPr id="12" name="Shape 10"/>
          <p:cNvSpPr/>
          <p:nvPr/>
        </p:nvSpPr>
        <p:spPr>
          <a:xfrm>
            <a:off x="4745736" y="960120"/>
            <a:ext cx="2029968" cy="1325880"/>
          </a:xfrm>
          <a:prstGeom prst="roundRect">
            <a:avLst>
              <a:gd name="adj" fmla="val 5517"/>
            </a:avLst>
          </a:prstGeom>
          <a:solidFill>
            <a:srgbClr val="1E2640"/>
          </a:solidFill>
          <a:ln/>
          <a:effectLst>
            <a:outerShdw blurRad="101600" dist="38100" dir="2700000" algn="bl" rotWithShape="0">
              <a:srgbClr val="000000">
                <a:alpha val="25000"/>
              </a:srgbClr>
            </a:outerShdw>
          </a:effectLst>
        </p:spPr>
        <p:txBody>
          <a:bodyPr/>
          <a:lstStyle/>
          <a:p>
            <a:endParaRPr lang="es-ES"/>
          </a:p>
        </p:txBody>
      </p:sp>
      <p:sp>
        <p:nvSpPr>
          <p:cNvPr id="13" name="Text 11"/>
          <p:cNvSpPr/>
          <p:nvPr/>
        </p:nvSpPr>
        <p:spPr>
          <a:xfrm>
            <a:off x="4837176" y="1005840"/>
            <a:ext cx="1847088" cy="256032"/>
          </a:xfrm>
          <a:prstGeom prst="rect">
            <a:avLst/>
          </a:prstGeom>
          <a:noFill/>
          <a:ln/>
        </p:spPr>
        <p:txBody>
          <a:bodyPr wrap="square" lIns="0" tIns="0" rIns="0" bIns="0" rtlCol="0" anchor="ctr"/>
          <a:lstStyle/>
          <a:p>
            <a:pPr marL="0" indent="0" algn="ctr">
              <a:buNone/>
            </a:pPr>
            <a:r>
              <a:rPr lang="en-US" sz="1050" b="1" dirty="0">
                <a:solidFill>
                  <a:srgbClr val="A78BFA"/>
                </a:solidFill>
                <a:latin typeface="Calibri" pitchFamily="34" charset="0"/>
                <a:ea typeface="Calibri" pitchFamily="34" charset="-122"/>
                <a:cs typeface="Calibri" pitchFamily="34" charset="-120"/>
              </a:rPr>
              <a:t>GPU Shared</a:t>
            </a:r>
            <a:endParaRPr lang="en-US" sz="1050" dirty="0"/>
          </a:p>
        </p:txBody>
      </p:sp>
      <p:sp>
        <p:nvSpPr>
          <p:cNvPr id="14" name="Text 12"/>
          <p:cNvSpPr/>
          <p:nvPr/>
        </p:nvSpPr>
        <p:spPr>
          <a:xfrm>
            <a:off x="4837176" y="1280160"/>
            <a:ext cx="1847088" cy="45720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176 ms/frame</a:t>
            </a:r>
            <a:endParaRPr lang="en-US" sz="2000" dirty="0"/>
          </a:p>
        </p:txBody>
      </p:sp>
      <p:sp>
        <p:nvSpPr>
          <p:cNvPr id="15" name="Text 13"/>
          <p:cNvSpPr/>
          <p:nvPr/>
        </p:nvSpPr>
        <p:spPr>
          <a:xfrm>
            <a:off x="4837176" y="1764792"/>
            <a:ext cx="1847088" cy="228600"/>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4,3 min total</a:t>
            </a:r>
            <a:endParaRPr lang="en-US" sz="1000" dirty="0"/>
          </a:p>
        </p:txBody>
      </p:sp>
      <p:sp>
        <p:nvSpPr>
          <p:cNvPr id="16" name="Shape 14"/>
          <p:cNvSpPr/>
          <p:nvPr/>
        </p:nvSpPr>
        <p:spPr>
          <a:xfrm>
            <a:off x="6958584" y="960120"/>
            <a:ext cx="2029968" cy="1325880"/>
          </a:xfrm>
          <a:prstGeom prst="roundRect">
            <a:avLst>
              <a:gd name="adj" fmla="val 5517"/>
            </a:avLst>
          </a:prstGeom>
          <a:solidFill>
            <a:srgbClr val="1E2640"/>
          </a:solidFill>
          <a:ln/>
          <a:effectLst>
            <a:outerShdw blurRad="101600" dist="38100" dir="2700000" algn="bl" rotWithShape="0">
              <a:srgbClr val="000000">
                <a:alpha val="25000"/>
              </a:srgbClr>
            </a:outerShdw>
          </a:effectLst>
        </p:spPr>
        <p:txBody>
          <a:bodyPr/>
          <a:lstStyle/>
          <a:p>
            <a:endParaRPr lang="es-ES"/>
          </a:p>
        </p:txBody>
      </p:sp>
      <p:sp>
        <p:nvSpPr>
          <p:cNvPr id="17" name="Text 15"/>
          <p:cNvSpPr/>
          <p:nvPr/>
        </p:nvSpPr>
        <p:spPr>
          <a:xfrm>
            <a:off x="7050024" y="1005840"/>
            <a:ext cx="1847088" cy="256032"/>
          </a:xfrm>
          <a:prstGeom prst="rect">
            <a:avLst/>
          </a:prstGeom>
          <a:noFill/>
          <a:ln/>
        </p:spPr>
        <p:txBody>
          <a:bodyPr wrap="square" lIns="0" tIns="0" rIns="0" bIns="0" rtlCol="0" anchor="ctr"/>
          <a:lstStyle/>
          <a:p>
            <a:pPr marL="0" indent="0" algn="ctr">
              <a:buNone/>
            </a:pPr>
            <a:r>
              <a:rPr lang="en-US" sz="1050" b="1" dirty="0">
                <a:solidFill>
                  <a:srgbClr val="F59E0B"/>
                </a:solidFill>
                <a:latin typeface="Calibri" pitchFamily="34" charset="0"/>
                <a:ea typeface="Calibri" pitchFamily="34" charset="-122"/>
                <a:cs typeface="Calibri" pitchFamily="34" charset="-120"/>
              </a:rPr>
              <a:t>Mejor speedup</a:t>
            </a:r>
            <a:endParaRPr lang="en-US" sz="1050" dirty="0"/>
          </a:p>
        </p:txBody>
      </p:sp>
      <p:sp>
        <p:nvSpPr>
          <p:cNvPr id="18" name="Text 16"/>
          <p:cNvSpPr/>
          <p:nvPr/>
        </p:nvSpPr>
        <p:spPr>
          <a:xfrm>
            <a:off x="7050024" y="1280160"/>
            <a:ext cx="1847088" cy="45720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43,2×</a:t>
            </a:r>
            <a:endParaRPr lang="en-US" sz="2000" dirty="0"/>
          </a:p>
        </p:txBody>
      </p:sp>
      <p:sp>
        <p:nvSpPr>
          <p:cNvPr id="19" name="Text 17"/>
          <p:cNvSpPr/>
          <p:nvPr/>
        </p:nvSpPr>
        <p:spPr>
          <a:xfrm>
            <a:off x="7050024" y="1764792"/>
            <a:ext cx="1847088" cy="228600"/>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GPU Global vs CPU</a:t>
            </a:r>
            <a:endParaRPr lang="en-US" sz="1000" dirty="0"/>
          </a:p>
        </p:txBody>
      </p:sp>
      <p:pic>
        <p:nvPicPr>
          <p:cNvPr id="20" name="Image 0" descr="preencoded.png"/>
          <p:cNvPicPr>
            <a:picLocks noChangeAspect="1"/>
          </p:cNvPicPr>
          <p:nvPr/>
        </p:nvPicPr>
        <p:blipFill>
          <a:blip r:embed="rId4"/>
          <a:srcRect/>
          <a:stretch/>
        </p:blipFill>
        <p:spPr>
          <a:xfrm>
            <a:off x="320040" y="2377440"/>
            <a:ext cx="4206240" cy="2468880"/>
          </a:xfrm>
          <a:prstGeom prst="rect">
            <a:avLst/>
          </a:prstGeom>
        </p:spPr>
      </p:pic>
      <p:pic>
        <p:nvPicPr>
          <p:cNvPr id="21" name="Image 1" descr="preencoded.png"/>
          <p:cNvPicPr>
            <a:picLocks noChangeAspect="1"/>
          </p:cNvPicPr>
          <p:nvPr/>
        </p:nvPicPr>
        <p:blipFill>
          <a:blip r:embed="rId5"/>
          <a:srcRect/>
          <a:stretch/>
        </p:blipFill>
        <p:spPr>
          <a:xfrm>
            <a:off x="4663440" y="2377440"/>
            <a:ext cx="4206240" cy="24688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64592"/>
            <a:ext cx="8412480" cy="502920"/>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Análisis: El Hallazgo Contraintuitivo</a:t>
            </a:r>
            <a:endParaRPr lang="en-US" sz="2800" dirty="0"/>
          </a:p>
        </p:txBody>
      </p:sp>
      <p:sp>
        <p:nvSpPr>
          <p:cNvPr id="3" name="Text 1"/>
          <p:cNvSpPr/>
          <p:nvPr/>
        </p:nvSpPr>
        <p:spPr>
          <a:xfrm>
            <a:off x="365760" y="685800"/>
            <a:ext cx="8412480" cy="274320"/>
          </a:xfrm>
          <a:prstGeom prst="rect">
            <a:avLst/>
          </a:prstGeom>
          <a:noFill/>
          <a:ln/>
        </p:spPr>
        <p:txBody>
          <a:bodyPr wrap="square" lIns="0" tIns="0" rIns="0" bIns="0" rtlCol="0" anchor="ctr"/>
          <a:lstStyle/>
          <a:p>
            <a:pPr marL="0" indent="0" algn="l">
              <a:buNone/>
            </a:pPr>
            <a:r>
              <a:rPr lang="en-US" sz="1300" dirty="0">
                <a:solidFill>
                  <a:srgbClr val="94A3B8"/>
                </a:solidFill>
                <a:latin typeface="Calibri" pitchFamily="34" charset="0"/>
                <a:ea typeface="Calibri" pitchFamily="34" charset="-122"/>
                <a:cs typeface="Calibri" pitchFamily="34" charset="-120"/>
              </a:rPr>
              <a:t>Por qué la memoria compartida resultó más lenta</a:t>
            </a:r>
            <a:endParaRPr lang="en-US" sz="1300" dirty="0"/>
          </a:p>
        </p:txBody>
      </p:sp>
      <p:pic>
        <p:nvPicPr>
          <p:cNvPr id="4" name="Image 0" descr="preencoded.png"/>
          <p:cNvPicPr>
            <a:picLocks noChangeAspect="1"/>
          </p:cNvPicPr>
          <p:nvPr/>
        </p:nvPicPr>
        <p:blipFill>
          <a:blip r:embed="rId4"/>
          <a:srcRect/>
          <a:stretch/>
        </p:blipFill>
        <p:spPr>
          <a:xfrm>
            <a:off x="320040" y="960120"/>
            <a:ext cx="5029200" cy="3566160"/>
          </a:xfrm>
          <a:prstGeom prst="rect">
            <a:avLst/>
          </a:prstGeom>
        </p:spPr>
      </p:pic>
      <p:sp>
        <p:nvSpPr>
          <p:cNvPr id="5" name="Shape 2"/>
          <p:cNvSpPr/>
          <p:nvPr/>
        </p:nvSpPr>
        <p:spPr>
          <a:xfrm>
            <a:off x="5486400" y="960120"/>
            <a:ext cx="3337560" cy="3566160"/>
          </a:xfrm>
          <a:prstGeom prst="roundRect">
            <a:avLst>
              <a:gd name="adj" fmla="val 2192"/>
            </a:avLst>
          </a:prstGeom>
          <a:solidFill>
            <a:srgbClr val="1E2640"/>
          </a:solidFill>
          <a:ln/>
          <a:effectLst>
            <a:outerShdw blurRad="101600" dist="38100" dir="2700000" algn="bl" rotWithShape="0">
              <a:srgbClr val="000000">
                <a:alpha val="25000"/>
              </a:srgbClr>
            </a:outerShdw>
          </a:effectLst>
        </p:spPr>
        <p:txBody>
          <a:bodyPr/>
          <a:lstStyle/>
          <a:p>
            <a:endParaRPr lang="es-ES"/>
          </a:p>
        </p:txBody>
      </p:sp>
      <p:sp>
        <p:nvSpPr>
          <p:cNvPr id="6" name="Text 3"/>
          <p:cNvSpPr/>
          <p:nvPr/>
        </p:nvSpPr>
        <p:spPr>
          <a:xfrm>
            <a:off x="5669280" y="1005840"/>
            <a:ext cx="2971800" cy="292608"/>
          </a:xfrm>
          <a:prstGeom prst="rect">
            <a:avLst/>
          </a:prstGeom>
          <a:noFill/>
          <a:ln/>
        </p:spPr>
        <p:txBody>
          <a:bodyPr wrap="square" lIns="0" tIns="0" rIns="0" bIns="0" rtlCol="0" anchor="ctr"/>
          <a:lstStyle/>
          <a:p>
            <a:pPr marL="0" indent="0">
              <a:buNone/>
            </a:pPr>
            <a:r>
              <a:rPr lang="en-US" sz="1300" b="1" dirty="0">
                <a:solidFill>
                  <a:srgbClr val="F59E0B"/>
                </a:solidFill>
                <a:latin typeface="Calibri" pitchFamily="34" charset="0"/>
                <a:ea typeface="Calibri" pitchFamily="34" charset="-122"/>
                <a:cs typeface="Calibri" pitchFamily="34" charset="-120"/>
              </a:rPr>
              <a:t>¿Qué pasó?</a:t>
            </a:r>
            <a:endParaRPr lang="en-US" sz="1300" dirty="0"/>
          </a:p>
        </p:txBody>
      </p:sp>
      <p:sp>
        <p:nvSpPr>
          <p:cNvPr id="7" name="Text 4"/>
          <p:cNvSpPr/>
          <p:nvPr/>
        </p:nvSpPr>
        <p:spPr>
          <a:xfrm>
            <a:off x="5669280" y="1389888"/>
            <a:ext cx="2971800" cy="594360"/>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1. Cada grupo de threads carga una región de 42×42 px — ocupa 20,7 KB de los 32 KB disponibles por multiprocesador</a:t>
            </a:r>
            <a:endParaRPr lang="en-US" sz="1050" dirty="0"/>
          </a:p>
        </p:txBody>
      </p:sp>
      <p:sp>
        <p:nvSpPr>
          <p:cNvPr id="8" name="Text 5"/>
          <p:cNvSpPr/>
          <p:nvPr/>
        </p:nvSpPr>
        <p:spPr>
          <a:xfrm>
            <a:off x="5669280" y="2075688"/>
            <a:ext cx="2971800" cy="594360"/>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2. Con tan poco espacio libre, solo cabe 1 grupo activo por multiprocesador GPU</a:t>
            </a:r>
            <a:endParaRPr lang="en-US" sz="1050" dirty="0"/>
          </a:p>
        </p:txBody>
      </p:sp>
      <p:sp>
        <p:nvSpPr>
          <p:cNvPr id="9" name="Text 6"/>
          <p:cNvSpPr/>
          <p:nvPr/>
        </p:nvSpPr>
        <p:spPr>
          <a:xfrm>
            <a:off x="5669280" y="2761488"/>
            <a:ext cx="2971800" cy="594360"/>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3. Sin múltiples grupos activos, la GPU no puede hacer otra cosa mientras espera datos</a:t>
            </a:r>
            <a:endParaRPr lang="en-US" sz="1050" dirty="0"/>
          </a:p>
        </p:txBody>
      </p:sp>
      <p:sp>
        <p:nvSpPr>
          <p:cNvPr id="10" name="Text 7"/>
          <p:cNvSpPr/>
          <p:nvPr/>
        </p:nvSpPr>
        <p:spPr>
          <a:xfrm>
            <a:off x="5669280" y="3447288"/>
            <a:ext cx="2971800" cy="594360"/>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4. El resultado es más lento que sin memoria interna: 176 ms vs 129 ms por frame</a:t>
            </a:r>
            <a:endParaRPr lang="en-US" sz="1050" dirty="0"/>
          </a:p>
        </p:txBody>
      </p:sp>
      <p:sp>
        <p:nvSpPr>
          <p:cNvPr id="11" name="Shape 8"/>
          <p:cNvSpPr/>
          <p:nvPr/>
        </p:nvSpPr>
        <p:spPr>
          <a:xfrm>
            <a:off x="5623560" y="4160520"/>
            <a:ext cx="3108960" cy="0"/>
          </a:xfrm>
          <a:prstGeom prst="line">
            <a:avLst/>
          </a:prstGeom>
          <a:noFill/>
          <a:ln w="12700">
            <a:solidFill>
              <a:srgbClr val="2D3A55"/>
            </a:solidFill>
            <a:prstDash val="solid"/>
          </a:ln>
        </p:spPr>
        <p:txBody>
          <a:bodyPr/>
          <a:lstStyle/>
          <a:p>
            <a:endParaRPr lang="es-ES"/>
          </a:p>
        </p:txBody>
      </p:sp>
      <p:sp>
        <p:nvSpPr>
          <p:cNvPr id="12" name="Text 9"/>
          <p:cNvSpPr/>
          <p:nvPr/>
        </p:nvSpPr>
        <p:spPr>
          <a:xfrm>
            <a:off x="5669280" y="4206240"/>
            <a:ext cx="2971800" cy="274320"/>
          </a:xfrm>
          <a:prstGeom prst="rect">
            <a:avLst/>
          </a:prstGeom>
          <a:noFill/>
          <a:ln/>
        </p:spPr>
        <p:txBody>
          <a:bodyPr wrap="square" lIns="0" tIns="0" rIns="0" bIns="0" rtlCol="0" anchor="ctr"/>
          <a:lstStyle/>
          <a:p>
            <a:pPr marL="0" indent="0">
              <a:buNone/>
            </a:pPr>
            <a:r>
              <a:rPr lang="en-US" sz="1050" b="1" dirty="0">
                <a:solidFill>
                  <a:srgbClr val="F59E0B"/>
                </a:solidFill>
                <a:latin typeface="Calibri" pitchFamily="34" charset="0"/>
                <a:ea typeface="Calibri" pitchFamily="34" charset="-122"/>
                <a:cs typeface="Calibri" pitchFamily="34" charset="-120"/>
              </a:rPr>
              <a:t>Mas memoria rapida no siempre acelera</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64592"/>
            <a:ext cx="8412480" cy="502920"/>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Limitaciones del Estudio</a:t>
            </a:r>
            <a:endParaRPr lang="en-US" sz="2800" dirty="0"/>
          </a:p>
        </p:txBody>
      </p:sp>
      <p:sp>
        <p:nvSpPr>
          <p:cNvPr id="3" name="Text 1"/>
          <p:cNvSpPr/>
          <p:nvPr/>
        </p:nvSpPr>
        <p:spPr>
          <a:xfrm>
            <a:off x="365760" y="685800"/>
            <a:ext cx="8412480" cy="274320"/>
          </a:xfrm>
          <a:prstGeom prst="rect">
            <a:avLst/>
          </a:prstGeom>
          <a:noFill/>
          <a:ln/>
        </p:spPr>
        <p:txBody>
          <a:bodyPr wrap="square" lIns="0" tIns="0" rIns="0" bIns="0" rtlCol="0" anchor="ctr"/>
          <a:lstStyle/>
          <a:p>
            <a:pPr marL="0" indent="0" algn="l">
              <a:buNone/>
            </a:pPr>
            <a:r>
              <a:rPr lang="en-US" sz="1300" dirty="0">
                <a:solidFill>
                  <a:srgbClr val="94A3B8"/>
                </a:solidFill>
                <a:latin typeface="Calibri" pitchFamily="34" charset="0"/>
                <a:ea typeface="Calibri" pitchFamily="34" charset="-122"/>
                <a:cs typeface="Calibri" pitchFamily="34" charset="-120"/>
              </a:rPr>
              <a:t>Aspectos a considerar para contextualizar los resultados</a:t>
            </a:r>
            <a:endParaRPr lang="en-US" sz="1300" dirty="0"/>
          </a:p>
        </p:txBody>
      </p:sp>
      <p:sp>
        <p:nvSpPr>
          <p:cNvPr id="4" name="Shape 2"/>
          <p:cNvSpPr/>
          <p:nvPr/>
        </p:nvSpPr>
        <p:spPr>
          <a:xfrm>
            <a:off x="320040" y="960120"/>
            <a:ext cx="8503920" cy="1170432"/>
          </a:xfrm>
          <a:prstGeom prst="roundRect">
            <a:avLst>
              <a:gd name="adj" fmla="val 6250"/>
            </a:avLst>
          </a:prstGeom>
          <a:solidFill>
            <a:srgbClr val="1E2640"/>
          </a:solidFill>
          <a:ln/>
          <a:effectLst>
            <a:outerShdw blurRad="101600" dist="38100" dir="2700000" algn="bl" rotWithShape="0">
              <a:srgbClr val="000000">
                <a:alpha val="25000"/>
              </a:srgbClr>
            </a:outerShdw>
          </a:effectLst>
        </p:spPr>
        <p:txBody>
          <a:bodyPr/>
          <a:lstStyle/>
          <a:p>
            <a:endParaRPr lang="es-ES"/>
          </a:p>
        </p:txBody>
      </p:sp>
      <p:sp>
        <p:nvSpPr>
          <p:cNvPr id="5" name="Shape 3"/>
          <p:cNvSpPr/>
          <p:nvPr/>
        </p:nvSpPr>
        <p:spPr>
          <a:xfrm>
            <a:off x="320040" y="960120"/>
            <a:ext cx="457200" cy="1170432"/>
          </a:xfrm>
          <a:prstGeom prst="roundRect">
            <a:avLst>
              <a:gd name="adj" fmla="val 16000"/>
            </a:avLst>
          </a:prstGeom>
          <a:solidFill>
            <a:srgbClr val="94A3B8">
              <a:alpha val="30000"/>
            </a:srgbClr>
          </a:solidFill>
          <a:ln/>
        </p:spPr>
        <p:txBody>
          <a:bodyPr/>
          <a:lstStyle/>
          <a:p>
            <a:endParaRPr lang="es-ES"/>
          </a:p>
        </p:txBody>
      </p:sp>
      <p:sp>
        <p:nvSpPr>
          <p:cNvPr id="6" name="Text 4"/>
          <p:cNvSpPr/>
          <p:nvPr/>
        </p:nvSpPr>
        <p:spPr>
          <a:xfrm>
            <a:off x="320040" y="1170432"/>
            <a:ext cx="457200" cy="411480"/>
          </a:xfrm>
          <a:prstGeom prst="rect">
            <a:avLst/>
          </a:prstGeom>
          <a:noFill/>
          <a:ln/>
        </p:spPr>
        <p:txBody>
          <a:bodyPr wrap="square" lIns="0" tIns="0" rIns="0" bIns="0" rtlCol="0" anchor="ctr"/>
          <a:lstStyle/>
          <a:p>
            <a:pPr marL="0" indent="0" algn="ctr">
              <a:buNone/>
            </a:pPr>
            <a:r>
              <a:rPr lang="en-US" sz="1800" b="1" dirty="0">
                <a:solidFill>
                  <a:srgbClr val="94A3B8"/>
                </a:solidFill>
                <a:latin typeface="Calibri" pitchFamily="34" charset="0"/>
                <a:ea typeface="Calibri" pitchFamily="34" charset="-122"/>
                <a:cs typeface="Calibri" pitchFamily="34" charset="-120"/>
              </a:rPr>
              <a:t>1</a:t>
            </a:r>
            <a:endParaRPr lang="en-US" sz="1800" dirty="0"/>
          </a:p>
        </p:txBody>
      </p:sp>
      <p:sp>
        <p:nvSpPr>
          <p:cNvPr id="7" name="Text 5"/>
          <p:cNvSpPr/>
          <p:nvPr/>
        </p:nvSpPr>
        <p:spPr>
          <a:xfrm>
            <a:off x="914400" y="1005840"/>
            <a:ext cx="7726680"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La línea base es multi-hilo, no secuencial</a:t>
            </a:r>
            <a:endParaRPr lang="en-US" sz="1300" dirty="0"/>
          </a:p>
        </p:txBody>
      </p:sp>
      <p:sp>
        <p:nvSpPr>
          <p:cNvPr id="8" name="Text 6"/>
          <p:cNvSpPr/>
          <p:nvPr/>
        </p:nvSpPr>
        <p:spPr>
          <a:xfrm>
            <a:off x="914400" y="1316736"/>
            <a:ext cx="7726680" cy="658368"/>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El speedup se mide contra la versión con 16 hilos de CPU, no contra un programa de un solo hilo. Respecto al código secuencial puro, el speedup de la GPU sería aproximadamente 690× en lugar de 43×.</a:t>
            </a:r>
            <a:endParaRPr lang="en-US" sz="1100" dirty="0"/>
          </a:p>
        </p:txBody>
      </p:sp>
      <p:sp>
        <p:nvSpPr>
          <p:cNvPr id="9" name="Shape 7"/>
          <p:cNvSpPr/>
          <p:nvPr/>
        </p:nvSpPr>
        <p:spPr>
          <a:xfrm>
            <a:off x="320040" y="2286000"/>
            <a:ext cx="8503920" cy="1170432"/>
          </a:xfrm>
          <a:prstGeom prst="roundRect">
            <a:avLst>
              <a:gd name="adj" fmla="val 6250"/>
            </a:avLst>
          </a:prstGeom>
          <a:solidFill>
            <a:srgbClr val="1E2640"/>
          </a:solidFill>
          <a:ln/>
          <a:effectLst>
            <a:outerShdw blurRad="101600" dist="38100" dir="2700000" algn="bl" rotWithShape="0">
              <a:srgbClr val="000000">
                <a:alpha val="25000"/>
              </a:srgbClr>
            </a:outerShdw>
          </a:effectLst>
        </p:spPr>
        <p:txBody>
          <a:bodyPr/>
          <a:lstStyle/>
          <a:p>
            <a:endParaRPr lang="es-ES"/>
          </a:p>
        </p:txBody>
      </p:sp>
      <p:sp>
        <p:nvSpPr>
          <p:cNvPr id="10" name="Shape 8"/>
          <p:cNvSpPr/>
          <p:nvPr/>
        </p:nvSpPr>
        <p:spPr>
          <a:xfrm>
            <a:off x="320040" y="2286000"/>
            <a:ext cx="457200" cy="1170432"/>
          </a:xfrm>
          <a:prstGeom prst="roundRect">
            <a:avLst>
              <a:gd name="adj" fmla="val 16000"/>
            </a:avLst>
          </a:prstGeom>
          <a:solidFill>
            <a:srgbClr val="94A3B8">
              <a:alpha val="30000"/>
            </a:srgbClr>
          </a:solidFill>
          <a:ln/>
        </p:spPr>
        <p:txBody>
          <a:bodyPr/>
          <a:lstStyle/>
          <a:p>
            <a:endParaRPr lang="es-ES"/>
          </a:p>
        </p:txBody>
      </p:sp>
      <p:sp>
        <p:nvSpPr>
          <p:cNvPr id="11" name="Text 9"/>
          <p:cNvSpPr/>
          <p:nvPr/>
        </p:nvSpPr>
        <p:spPr>
          <a:xfrm>
            <a:off x="320040" y="2496312"/>
            <a:ext cx="457200" cy="411480"/>
          </a:xfrm>
          <a:prstGeom prst="rect">
            <a:avLst/>
          </a:prstGeom>
          <a:noFill/>
          <a:ln/>
        </p:spPr>
        <p:txBody>
          <a:bodyPr wrap="square" lIns="0" tIns="0" rIns="0" bIns="0" rtlCol="0" anchor="ctr"/>
          <a:lstStyle/>
          <a:p>
            <a:pPr marL="0" indent="0" algn="ctr">
              <a:buNone/>
            </a:pPr>
            <a:r>
              <a:rPr lang="en-US" sz="1800" b="1" dirty="0">
                <a:solidFill>
                  <a:srgbClr val="94A3B8"/>
                </a:solidFill>
                <a:latin typeface="Calibri" pitchFamily="34" charset="0"/>
                <a:ea typeface="Calibri" pitchFamily="34" charset="-122"/>
                <a:cs typeface="Calibri" pitchFamily="34" charset="-120"/>
              </a:rPr>
              <a:t>2</a:t>
            </a:r>
            <a:endParaRPr lang="en-US" sz="1800" dirty="0"/>
          </a:p>
        </p:txBody>
      </p:sp>
      <p:sp>
        <p:nvSpPr>
          <p:cNvPr id="12" name="Text 10"/>
          <p:cNvSpPr/>
          <p:nvPr/>
        </p:nvSpPr>
        <p:spPr>
          <a:xfrm>
            <a:off x="914400" y="2331720"/>
            <a:ext cx="7726680"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El tiempo GPU mide solo el cómputo, no la transferencia</a:t>
            </a:r>
            <a:endParaRPr lang="en-US" sz="1300" dirty="0"/>
          </a:p>
        </p:txBody>
      </p:sp>
      <p:sp>
        <p:nvSpPr>
          <p:cNvPr id="13" name="Text 11"/>
          <p:cNvSpPr/>
          <p:nvPr/>
        </p:nvSpPr>
        <p:spPr>
          <a:xfrm>
            <a:off x="914400" y="2642616"/>
            <a:ext cx="7726680" cy="658368"/>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En cada frame hay que enviar los datos desde la RAM al GPU y devolver el resultado filtrado. Ese tiempo de transferencia no está incluido en las métricas — en una aplicación real habría que sumarlo.</a:t>
            </a:r>
            <a:endParaRPr lang="en-US" sz="1100" dirty="0"/>
          </a:p>
        </p:txBody>
      </p:sp>
      <p:sp>
        <p:nvSpPr>
          <p:cNvPr id="14" name="Shape 12"/>
          <p:cNvSpPr/>
          <p:nvPr/>
        </p:nvSpPr>
        <p:spPr>
          <a:xfrm>
            <a:off x="320040" y="3611880"/>
            <a:ext cx="8503920" cy="1170432"/>
          </a:xfrm>
          <a:prstGeom prst="roundRect">
            <a:avLst>
              <a:gd name="adj" fmla="val 6250"/>
            </a:avLst>
          </a:prstGeom>
          <a:solidFill>
            <a:srgbClr val="1E2640"/>
          </a:solidFill>
          <a:ln/>
          <a:effectLst>
            <a:outerShdw blurRad="101600" dist="38100" dir="2700000" algn="bl" rotWithShape="0">
              <a:srgbClr val="000000">
                <a:alpha val="25000"/>
              </a:srgbClr>
            </a:outerShdw>
          </a:effectLst>
        </p:spPr>
        <p:txBody>
          <a:bodyPr/>
          <a:lstStyle/>
          <a:p>
            <a:endParaRPr lang="es-ES"/>
          </a:p>
        </p:txBody>
      </p:sp>
      <p:sp>
        <p:nvSpPr>
          <p:cNvPr id="15" name="Shape 13"/>
          <p:cNvSpPr/>
          <p:nvPr/>
        </p:nvSpPr>
        <p:spPr>
          <a:xfrm>
            <a:off x="320040" y="3611880"/>
            <a:ext cx="457200" cy="1170432"/>
          </a:xfrm>
          <a:prstGeom prst="roundRect">
            <a:avLst>
              <a:gd name="adj" fmla="val 16000"/>
            </a:avLst>
          </a:prstGeom>
          <a:solidFill>
            <a:srgbClr val="94A3B8">
              <a:alpha val="30000"/>
            </a:srgbClr>
          </a:solidFill>
          <a:ln/>
        </p:spPr>
        <p:txBody>
          <a:bodyPr/>
          <a:lstStyle/>
          <a:p>
            <a:endParaRPr lang="es-ES"/>
          </a:p>
        </p:txBody>
      </p:sp>
      <p:sp>
        <p:nvSpPr>
          <p:cNvPr id="16" name="Text 14"/>
          <p:cNvSpPr/>
          <p:nvPr/>
        </p:nvSpPr>
        <p:spPr>
          <a:xfrm>
            <a:off x="320040" y="3822192"/>
            <a:ext cx="457200" cy="411480"/>
          </a:xfrm>
          <a:prstGeom prst="rect">
            <a:avLst/>
          </a:prstGeom>
          <a:noFill/>
          <a:ln/>
        </p:spPr>
        <p:txBody>
          <a:bodyPr wrap="square" lIns="0" tIns="0" rIns="0" bIns="0" rtlCol="0" anchor="ctr"/>
          <a:lstStyle/>
          <a:p>
            <a:pPr marL="0" indent="0" algn="ctr">
              <a:buNone/>
            </a:pPr>
            <a:r>
              <a:rPr lang="en-US" sz="1800" b="1" dirty="0">
                <a:solidFill>
                  <a:srgbClr val="94A3B8"/>
                </a:solidFill>
                <a:latin typeface="Calibri" pitchFamily="34" charset="0"/>
                <a:ea typeface="Calibri" pitchFamily="34" charset="-122"/>
                <a:cs typeface="Calibri" pitchFamily="34" charset="-120"/>
              </a:rPr>
              <a:t>3</a:t>
            </a:r>
            <a:endParaRPr lang="en-US" sz="1800" dirty="0"/>
          </a:p>
        </p:txBody>
      </p:sp>
      <p:sp>
        <p:nvSpPr>
          <p:cNvPr id="17" name="Text 15"/>
          <p:cNvSpPr/>
          <p:nvPr/>
        </p:nvSpPr>
        <p:spPr>
          <a:xfrm>
            <a:off x="914400" y="3657600"/>
            <a:ext cx="7726680"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Resolución no estándar del video de prueba</a:t>
            </a:r>
            <a:endParaRPr lang="en-US" sz="1300" dirty="0"/>
          </a:p>
        </p:txBody>
      </p:sp>
      <p:sp>
        <p:nvSpPr>
          <p:cNvPr id="18" name="Text 16"/>
          <p:cNvSpPr/>
          <p:nvPr/>
        </p:nvSpPr>
        <p:spPr>
          <a:xfrm>
            <a:off x="914400" y="3968496"/>
            <a:ext cx="7726680" cy="658368"/>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1.280×560 px no es múltiplo exacto del bloque CUDA de 16×16. En los bordes del frame se generan grupos incompletos de threads, lo que reduce ligeramente la eficiencia marginal de la GPU.</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365760" y="164592"/>
            <a:ext cx="8412480" cy="502920"/>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Conclusiones</a:t>
            </a:r>
            <a:endParaRPr lang="en-US" sz="2800" dirty="0"/>
          </a:p>
        </p:txBody>
      </p:sp>
      <p:sp>
        <p:nvSpPr>
          <p:cNvPr id="3" name="Shape 1"/>
          <p:cNvSpPr/>
          <p:nvPr/>
        </p:nvSpPr>
        <p:spPr>
          <a:xfrm>
            <a:off x="320040" y="960120"/>
            <a:ext cx="8503920" cy="1207008"/>
          </a:xfrm>
          <a:prstGeom prst="roundRect">
            <a:avLst>
              <a:gd name="adj" fmla="val 6061"/>
            </a:avLst>
          </a:prstGeom>
          <a:solidFill>
            <a:srgbClr val="1E2640"/>
          </a:solidFill>
          <a:ln/>
          <a:effectLst>
            <a:outerShdw blurRad="101600" dist="38100" dir="2700000" algn="bl" rotWithShape="0">
              <a:srgbClr val="000000">
                <a:alpha val="25000"/>
              </a:srgbClr>
            </a:outerShdw>
          </a:effectLst>
        </p:spPr>
        <p:txBody>
          <a:bodyPr/>
          <a:lstStyle/>
          <a:p>
            <a:endParaRPr lang="es-ES"/>
          </a:p>
        </p:txBody>
      </p:sp>
      <p:sp>
        <p:nvSpPr>
          <p:cNvPr id="4" name="Shape 2"/>
          <p:cNvSpPr/>
          <p:nvPr/>
        </p:nvSpPr>
        <p:spPr>
          <a:xfrm>
            <a:off x="320040" y="960120"/>
            <a:ext cx="502920" cy="1207008"/>
          </a:xfrm>
          <a:prstGeom prst="roundRect">
            <a:avLst>
              <a:gd name="adj" fmla="val 14545"/>
            </a:avLst>
          </a:prstGeom>
          <a:solidFill>
            <a:srgbClr val="10B981">
              <a:alpha val="20000"/>
            </a:srgbClr>
          </a:solidFill>
          <a:ln/>
        </p:spPr>
        <p:txBody>
          <a:bodyPr/>
          <a:lstStyle/>
          <a:p>
            <a:endParaRPr lang="es-ES"/>
          </a:p>
        </p:txBody>
      </p:sp>
      <p:sp>
        <p:nvSpPr>
          <p:cNvPr id="5" name="Text 3"/>
          <p:cNvSpPr/>
          <p:nvPr/>
        </p:nvSpPr>
        <p:spPr>
          <a:xfrm>
            <a:off x="320040" y="1097280"/>
            <a:ext cx="502920" cy="502920"/>
          </a:xfrm>
          <a:prstGeom prst="rect">
            <a:avLst/>
          </a:prstGeom>
          <a:noFill/>
          <a:ln/>
        </p:spPr>
        <p:txBody>
          <a:bodyPr wrap="square" lIns="0" tIns="0" rIns="0" bIns="0" rtlCol="0" anchor="ctr"/>
          <a:lstStyle/>
          <a:p>
            <a:pPr marL="0" indent="0" algn="ctr">
              <a:buNone/>
            </a:pPr>
            <a:r>
              <a:rPr lang="en-US" sz="2000" b="1" dirty="0">
                <a:solidFill>
                  <a:srgbClr val="10B981"/>
                </a:solidFill>
                <a:latin typeface="Calibri" pitchFamily="34" charset="0"/>
                <a:ea typeface="Calibri" pitchFamily="34" charset="-122"/>
                <a:cs typeface="Calibri" pitchFamily="34" charset="-120"/>
              </a:rPr>
              <a:t>01</a:t>
            </a:r>
            <a:endParaRPr lang="en-US" sz="2000" dirty="0"/>
          </a:p>
        </p:txBody>
      </p:sp>
      <p:sp>
        <p:nvSpPr>
          <p:cNvPr id="6" name="Text 4"/>
          <p:cNvSpPr/>
          <p:nvPr/>
        </p:nvSpPr>
        <p:spPr>
          <a:xfrm>
            <a:off x="960120" y="1005840"/>
            <a:ext cx="7680960" cy="292608"/>
          </a:xfrm>
          <a:prstGeom prst="rect">
            <a:avLst/>
          </a:prstGeom>
          <a:noFill/>
          <a:ln/>
        </p:spPr>
        <p:txBody>
          <a:bodyPr wrap="square" lIns="0" tIns="0" rIns="0" bIns="0" rtlCol="0" anchor="ctr"/>
          <a:lstStyle/>
          <a:p>
            <a:pPr marL="0" indent="0">
              <a:buNone/>
            </a:pPr>
            <a:r>
              <a:rPr lang="en-US" sz="1300" b="1" dirty="0">
                <a:solidFill>
                  <a:srgbClr val="10B981"/>
                </a:solidFill>
                <a:latin typeface="Calibri" pitchFamily="34" charset="0"/>
                <a:ea typeface="Calibri" pitchFamily="34" charset="-122"/>
                <a:cs typeface="Calibri" pitchFamily="34" charset="-120"/>
              </a:rPr>
              <a:t>GPU es altamente efectiva para NLM-C</a:t>
            </a:r>
            <a:endParaRPr lang="en-US" sz="1300" dirty="0"/>
          </a:p>
        </p:txBody>
      </p:sp>
      <p:sp>
        <p:nvSpPr>
          <p:cNvPr id="7" name="Text 5"/>
          <p:cNvSpPr/>
          <p:nvPr/>
        </p:nvSpPr>
        <p:spPr>
          <a:xfrm>
            <a:off x="960120" y="1316736"/>
            <a:ext cx="7680960" cy="658368"/>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La versión GPU global alcanzó 43,2× de speedup sobre la línea base CPU con 16 hilos. Al no existir dependencias entre píxeles, los 3.072 threads trabajan completamente en paralelo.</a:t>
            </a:r>
            <a:endParaRPr lang="en-US" sz="1100" dirty="0"/>
          </a:p>
        </p:txBody>
      </p:sp>
      <p:sp>
        <p:nvSpPr>
          <p:cNvPr id="8" name="Shape 6"/>
          <p:cNvSpPr/>
          <p:nvPr/>
        </p:nvSpPr>
        <p:spPr>
          <a:xfrm>
            <a:off x="320040" y="2313432"/>
            <a:ext cx="8503920" cy="1207008"/>
          </a:xfrm>
          <a:prstGeom prst="roundRect">
            <a:avLst>
              <a:gd name="adj" fmla="val 6061"/>
            </a:avLst>
          </a:prstGeom>
          <a:solidFill>
            <a:srgbClr val="1E2640"/>
          </a:solidFill>
          <a:ln/>
          <a:effectLst>
            <a:outerShdw blurRad="101600" dist="38100" dir="2700000" algn="bl" rotWithShape="0">
              <a:srgbClr val="000000">
                <a:alpha val="25000"/>
              </a:srgbClr>
            </a:outerShdw>
          </a:effectLst>
        </p:spPr>
        <p:txBody>
          <a:bodyPr/>
          <a:lstStyle/>
          <a:p>
            <a:endParaRPr lang="es-ES"/>
          </a:p>
        </p:txBody>
      </p:sp>
      <p:sp>
        <p:nvSpPr>
          <p:cNvPr id="9" name="Shape 7"/>
          <p:cNvSpPr/>
          <p:nvPr/>
        </p:nvSpPr>
        <p:spPr>
          <a:xfrm>
            <a:off x="320040" y="2313432"/>
            <a:ext cx="502920" cy="1207008"/>
          </a:xfrm>
          <a:prstGeom prst="roundRect">
            <a:avLst>
              <a:gd name="adj" fmla="val 14545"/>
            </a:avLst>
          </a:prstGeom>
          <a:solidFill>
            <a:srgbClr val="F59E0B">
              <a:alpha val="20000"/>
            </a:srgbClr>
          </a:solidFill>
          <a:ln/>
        </p:spPr>
        <p:txBody>
          <a:bodyPr/>
          <a:lstStyle/>
          <a:p>
            <a:endParaRPr lang="es-ES"/>
          </a:p>
        </p:txBody>
      </p:sp>
      <p:sp>
        <p:nvSpPr>
          <p:cNvPr id="10" name="Text 8"/>
          <p:cNvSpPr/>
          <p:nvPr/>
        </p:nvSpPr>
        <p:spPr>
          <a:xfrm>
            <a:off x="320040" y="2450592"/>
            <a:ext cx="502920" cy="502920"/>
          </a:xfrm>
          <a:prstGeom prst="rect">
            <a:avLst/>
          </a:prstGeom>
          <a:noFill/>
          <a:ln/>
        </p:spPr>
        <p:txBody>
          <a:bodyPr wrap="square" lIns="0" tIns="0" rIns="0" bIns="0" rtlCol="0" anchor="ctr"/>
          <a:lstStyle/>
          <a:p>
            <a:pPr marL="0" indent="0" algn="ctr">
              <a:buNone/>
            </a:pPr>
            <a:r>
              <a:rPr lang="en-US" sz="2000" b="1" dirty="0">
                <a:solidFill>
                  <a:srgbClr val="F59E0B"/>
                </a:solidFill>
                <a:latin typeface="Calibri" pitchFamily="34" charset="0"/>
                <a:ea typeface="Calibri" pitchFamily="34" charset="-122"/>
                <a:cs typeface="Calibri" pitchFamily="34" charset="-120"/>
              </a:rPr>
              <a:t>02</a:t>
            </a:r>
            <a:endParaRPr lang="en-US" sz="2000" dirty="0"/>
          </a:p>
        </p:txBody>
      </p:sp>
      <p:sp>
        <p:nvSpPr>
          <p:cNvPr id="11" name="Text 9"/>
          <p:cNvSpPr/>
          <p:nvPr/>
        </p:nvSpPr>
        <p:spPr>
          <a:xfrm>
            <a:off x="960120" y="2359152"/>
            <a:ext cx="7680960" cy="292608"/>
          </a:xfrm>
          <a:prstGeom prst="rect">
            <a:avLst/>
          </a:prstGeom>
          <a:noFill/>
          <a:ln/>
        </p:spPr>
        <p:txBody>
          <a:bodyPr wrap="square" lIns="0" tIns="0" rIns="0" bIns="0" rtlCol="0" anchor="ctr"/>
          <a:lstStyle/>
          <a:p>
            <a:pPr marL="0" indent="0">
              <a:buNone/>
            </a:pPr>
            <a:r>
              <a:rPr lang="en-US" sz="1300" b="1" dirty="0">
                <a:solidFill>
                  <a:srgbClr val="F59E0B"/>
                </a:solidFill>
                <a:latin typeface="Calibri" pitchFamily="34" charset="0"/>
                <a:ea typeface="Calibri" pitchFamily="34" charset="-122"/>
                <a:cs typeface="Calibri" pitchFamily="34" charset="-120"/>
              </a:rPr>
              <a:t>Más memoria rápida no siempre significa más velocidad</a:t>
            </a:r>
            <a:endParaRPr lang="en-US" sz="1300" dirty="0"/>
          </a:p>
        </p:txBody>
      </p:sp>
      <p:sp>
        <p:nvSpPr>
          <p:cNvPr id="12" name="Text 10"/>
          <p:cNvSpPr/>
          <p:nvPr/>
        </p:nvSpPr>
        <p:spPr>
          <a:xfrm>
            <a:off x="960120" y="2670048"/>
            <a:ext cx="7680960" cy="658368"/>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GPU Shared fue un 36% más lenta que Global. El consumo de 20,7 KB por bloque limitó el SM a un solo grupo activo, eliminando el ocultamiento de latencias que hace eficiente la GPU.</a:t>
            </a:r>
            <a:endParaRPr lang="en-US" sz="1100" dirty="0"/>
          </a:p>
        </p:txBody>
      </p:sp>
      <p:sp>
        <p:nvSpPr>
          <p:cNvPr id="13" name="Shape 11"/>
          <p:cNvSpPr/>
          <p:nvPr/>
        </p:nvSpPr>
        <p:spPr>
          <a:xfrm>
            <a:off x="320040" y="3666744"/>
            <a:ext cx="8503920" cy="1207008"/>
          </a:xfrm>
          <a:prstGeom prst="roundRect">
            <a:avLst>
              <a:gd name="adj" fmla="val 6061"/>
            </a:avLst>
          </a:prstGeom>
          <a:solidFill>
            <a:srgbClr val="1E2640"/>
          </a:solidFill>
          <a:ln/>
          <a:effectLst>
            <a:outerShdw blurRad="101600" dist="38100" dir="2700000" algn="bl" rotWithShape="0">
              <a:srgbClr val="000000">
                <a:alpha val="25000"/>
              </a:srgbClr>
            </a:outerShdw>
          </a:effectLst>
        </p:spPr>
        <p:txBody>
          <a:bodyPr/>
          <a:lstStyle/>
          <a:p>
            <a:endParaRPr lang="es-ES"/>
          </a:p>
        </p:txBody>
      </p:sp>
      <p:sp>
        <p:nvSpPr>
          <p:cNvPr id="14" name="Shape 12"/>
          <p:cNvSpPr/>
          <p:nvPr/>
        </p:nvSpPr>
        <p:spPr>
          <a:xfrm>
            <a:off x="320040" y="3666744"/>
            <a:ext cx="502920" cy="1207008"/>
          </a:xfrm>
          <a:prstGeom prst="roundRect">
            <a:avLst>
              <a:gd name="adj" fmla="val 14545"/>
            </a:avLst>
          </a:prstGeom>
          <a:solidFill>
            <a:srgbClr val="3B82F6">
              <a:alpha val="20000"/>
            </a:srgbClr>
          </a:solidFill>
          <a:ln/>
        </p:spPr>
        <p:txBody>
          <a:bodyPr/>
          <a:lstStyle/>
          <a:p>
            <a:endParaRPr lang="es-ES"/>
          </a:p>
        </p:txBody>
      </p:sp>
      <p:sp>
        <p:nvSpPr>
          <p:cNvPr id="15" name="Text 13"/>
          <p:cNvSpPr/>
          <p:nvPr/>
        </p:nvSpPr>
        <p:spPr>
          <a:xfrm>
            <a:off x="320040" y="3803904"/>
            <a:ext cx="502920" cy="502920"/>
          </a:xfrm>
          <a:prstGeom prst="rect">
            <a:avLst/>
          </a:prstGeom>
          <a:noFill/>
          <a:ln/>
        </p:spPr>
        <p:txBody>
          <a:bodyPr wrap="square" lIns="0" tIns="0" rIns="0" bIns="0" rtlCol="0" anchor="ctr"/>
          <a:lstStyle/>
          <a:p>
            <a:pPr marL="0" indent="0" algn="ctr">
              <a:buNone/>
            </a:pPr>
            <a:r>
              <a:rPr lang="en-US" sz="2000" b="1" dirty="0">
                <a:solidFill>
                  <a:srgbClr val="3B82F6"/>
                </a:solidFill>
                <a:latin typeface="Calibri" pitchFamily="34" charset="0"/>
                <a:ea typeface="Calibri" pitchFamily="34" charset="-122"/>
                <a:cs typeface="Calibri" pitchFamily="34" charset="-120"/>
              </a:rPr>
              <a:t>03</a:t>
            </a:r>
            <a:endParaRPr lang="en-US" sz="2000" dirty="0"/>
          </a:p>
        </p:txBody>
      </p:sp>
      <p:sp>
        <p:nvSpPr>
          <p:cNvPr id="16" name="Text 14"/>
          <p:cNvSpPr/>
          <p:nvPr/>
        </p:nvSpPr>
        <p:spPr>
          <a:xfrm>
            <a:off x="960120" y="3712464"/>
            <a:ext cx="7680960" cy="292608"/>
          </a:xfrm>
          <a:prstGeom prst="rect">
            <a:avLst/>
          </a:prstGeom>
          <a:noFill/>
          <a:ln/>
        </p:spPr>
        <p:txBody>
          <a:bodyPr wrap="square" lIns="0" tIns="0" rIns="0" bIns="0" rtlCol="0" anchor="ctr"/>
          <a:lstStyle/>
          <a:p>
            <a:pPr marL="0" indent="0">
              <a:buNone/>
            </a:pPr>
            <a:r>
              <a:rPr lang="en-US" sz="1300" b="1" dirty="0">
                <a:solidFill>
                  <a:srgbClr val="3B82F6"/>
                </a:solidFill>
                <a:latin typeface="Calibri" pitchFamily="34" charset="0"/>
                <a:ea typeface="Calibri" pitchFamily="34" charset="-122"/>
                <a:cs typeface="Calibri" pitchFamily="34" charset="-120"/>
              </a:rPr>
              <a:t>El proyecto demostró conceptos centrales del ramo</a:t>
            </a:r>
            <a:endParaRPr lang="en-US" sz="1300" dirty="0"/>
          </a:p>
        </p:txBody>
      </p:sp>
      <p:sp>
        <p:nvSpPr>
          <p:cNvPr id="17" name="Text 15"/>
          <p:cNvSpPr/>
          <p:nvPr/>
        </p:nvSpPr>
        <p:spPr>
          <a:xfrm>
            <a:off x="960120" y="4023360"/>
            <a:ext cx="7680960" cy="658368"/>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Escala de paralelismo, jerarquía de memoria, ocupancia del SM y trade-offs entre complejidad y rendimiento — todos evidenciados con datos experimentales reales.</a:t>
            </a:r>
            <a:endParaRPr lang="en-US" sz="1100" dirty="0"/>
          </a:p>
        </p:txBody>
      </p:sp>
      <p:sp>
        <p:nvSpPr>
          <p:cNvPr id="18" name="Text 16"/>
          <p:cNvSpPr/>
          <p:nvPr/>
        </p:nvSpPr>
        <p:spPr>
          <a:xfrm>
            <a:off x="320040" y="4846320"/>
            <a:ext cx="8503920" cy="228600"/>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Diego Silva Madariaga  ·  Pablo Ibáñez  ·  UTEM 2026  ·  Computación Paralela y Distribuida</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1538</Words>
  <Application>Microsoft Office PowerPoint</Application>
  <PresentationFormat>Presentación en pantalla (16:9)</PresentationFormat>
  <Paragraphs>181</Paragraphs>
  <Slides>11</Slides>
  <Notes>11</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11</vt:i4>
      </vt:variant>
    </vt:vector>
  </HeadingPairs>
  <TitlesOfParts>
    <vt:vector size="14" baseType="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Paralelización NLM-C para Video</dc:title>
  <dc:subject>PptxGenJS Presentation</dc:subject>
  <dc:creator>PptxGenJS</dc:creator>
  <cp:lastModifiedBy>DIEGO ERNESTO SILVA MADARIAGA</cp:lastModifiedBy>
  <cp:revision>2</cp:revision>
  <dcterms:created xsi:type="dcterms:W3CDTF">2026-07-05T21:18:02Z</dcterms:created>
  <dcterms:modified xsi:type="dcterms:W3CDTF">2026-07-05T21:23:09Z</dcterms:modified>
</cp:coreProperties>
</file>