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8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n 79" descr="r/pcmasterrace - [4K] simple fondo de pantalla de carbono de NVIDIA">
            <a:extLst>
              <a:ext uri="{FF2B5EF4-FFF2-40B4-BE49-F238E27FC236}">
                <a16:creationId xmlns:a16="http://schemas.microsoft.com/office/drawing/2014/main" id="{664C3591-688E-66BC-63DC-F818D32FD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5" y="1658118"/>
            <a:ext cx="2688581" cy="242619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4" name="Text 62"/>
          <p:cNvSpPr/>
          <p:nvPr/>
        </p:nvSpPr>
        <p:spPr>
          <a:xfrm>
            <a:off x="274320" y="457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800" b="1" kern="0" spc="2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UTEM · FACULTAD DE INGENIERÍA</a:t>
            </a:r>
            <a:endParaRPr lang="es-CL" sz="800" noProof="0" dirty="0"/>
          </a:p>
        </p:txBody>
      </p:sp>
      <p:sp>
        <p:nvSpPr>
          <p:cNvPr id="65" name="Text 63"/>
          <p:cNvSpPr/>
          <p:nvPr/>
        </p:nvSpPr>
        <p:spPr>
          <a:xfrm>
            <a:off x="274320" y="9144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3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Paralelización</a:t>
            </a:r>
            <a:endParaRPr lang="es-CL" sz="3200" noProof="0" dirty="0"/>
          </a:p>
          <a:p>
            <a:pPr marL="0" indent="0">
              <a:buNone/>
            </a:pPr>
            <a:r>
              <a:rPr lang="es-CL" sz="3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Masiva en GPU</a:t>
            </a:r>
            <a:endParaRPr lang="es-CL" sz="3200" noProof="0" dirty="0"/>
          </a:p>
        </p:txBody>
      </p:sp>
      <p:sp>
        <p:nvSpPr>
          <p:cNvPr id="66" name="Text 64"/>
          <p:cNvSpPr/>
          <p:nvPr/>
        </p:nvSpPr>
        <p:spPr>
          <a:xfrm>
            <a:off x="2743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NL-Means para</a:t>
            </a:r>
            <a:endParaRPr lang="es-CL" sz="1400" noProof="0" dirty="0"/>
          </a:p>
          <a:p>
            <a:pPr marL="0" indent="0">
              <a:buNone/>
            </a:pPr>
            <a:r>
              <a:rPr lang="es-CL" sz="14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4K con CUDA</a:t>
            </a:r>
            <a:endParaRPr lang="es-CL" sz="1400" noProof="0" dirty="0"/>
          </a:p>
        </p:txBody>
      </p:sp>
      <p:sp>
        <p:nvSpPr>
          <p:cNvPr id="67" name="Shape 65"/>
          <p:cNvSpPr/>
          <p:nvPr/>
        </p:nvSpPr>
        <p:spPr>
          <a:xfrm>
            <a:off x="274320" y="2834640"/>
            <a:ext cx="1097280" cy="36576"/>
          </a:xfrm>
          <a:prstGeom prst="rect">
            <a:avLst/>
          </a:prstGeom>
          <a:solidFill>
            <a:srgbClr val="39D0D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8" name="Text 66"/>
          <p:cNvSpPr/>
          <p:nvPr/>
        </p:nvSpPr>
        <p:spPr>
          <a:xfrm>
            <a:off x="274320" y="3840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s-CL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Silva · Pablo Ibañez</a:t>
            </a:r>
            <a:endParaRPr lang="es-CL" sz="1000" noProof="0" dirty="0"/>
          </a:p>
        </p:txBody>
      </p:sp>
      <p:sp>
        <p:nvSpPr>
          <p:cNvPr id="69" name="Text 67"/>
          <p:cNvSpPr/>
          <p:nvPr/>
        </p:nvSpPr>
        <p:spPr>
          <a:xfrm>
            <a:off x="274320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r>
              <a:rPr lang="es-CL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Paralela y Distribuida</a:t>
            </a:r>
            <a:endParaRPr lang="es-CL" sz="1000" noProof="0" dirty="0"/>
          </a:p>
        </p:txBody>
      </p:sp>
      <p:sp>
        <p:nvSpPr>
          <p:cNvPr id="70" name="Text 68"/>
          <p:cNvSpPr/>
          <p:nvPr/>
        </p:nvSpPr>
        <p:spPr>
          <a:xfrm>
            <a:off x="274320" y="4389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s-CL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Miranda · 1er </a:t>
            </a:r>
            <a:r>
              <a:rPr lang="es-CL" sz="10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s-CL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s-CL" sz="1000" noProof="0" dirty="0"/>
          </a:p>
        </p:txBody>
      </p:sp>
      <p:sp>
        <p:nvSpPr>
          <p:cNvPr id="72" name="Text 70"/>
          <p:cNvSpPr/>
          <p:nvPr/>
        </p:nvSpPr>
        <p:spPr>
          <a:xfrm>
            <a:off x="274320" y="4599432"/>
            <a:ext cx="3115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Civil en Ciencia de Datos</a:t>
            </a:r>
          </a:p>
          <a:p>
            <a:pPr marL="0" indent="0">
              <a:buNone/>
            </a:pP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Metropolitana</a:t>
            </a:r>
            <a:endParaRPr lang="es-CL" sz="1100" noProof="0" dirty="0"/>
          </a:p>
        </p:txBody>
      </p:sp>
      <p:pic>
        <p:nvPicPr>
          <p:cNvPr id="75" name="Imagen 74">
            <a:extLst>
              <a:ext uri="{FF2B5EF4-FFF2-40B4-BE49-F238E27FC236}">
                <a16:creationId xmlns:a16="http://schemas.microsoft.com/office/drawing/2014/main" id="{EFEBBDFF-2870-9527-74C3-627DC1C11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9" y="13749"/>
            <a:ext cx="426911" cy="426911"/>
          </a:xfrm>
          <a:prstGeom prst="rect">
            <a:avLst/>
          </a:prstGeom>
        </p:spPr>
      </p:pic>
      <p:pic>
        <p:nvPicPr>
          <p:cNvPr id="85" name="Imagen 84" descr="Sistema Informáticos Europeos Nueva GPU H100 | Nvidia">
            <a:extLst>
              <a:ext uri="{FF2B5EF4-FFF2-40B4-BE49-F238E27FC236}">
                <a16:creationId xmlns:a16="http://schemas.microsoft.com/office/drawing/2014/main" id="{B0161FD7-D713-4E09-0975-D08092651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891" y="855215"/>
            <a:ext cx="4490357" cy="2268001"/>
          </a:xfrm>
          <a:prstGeom prst="rect">
            <a:avLst/>
          </a:prstGeom>
        </p:spPr>
      </p:pic>
      <p:pic>
        <p:nvPicPr>
          <p:cNvPr id="88" name="Imagen 87" descr="File:NVIDIA logo.svg - Wikimedia Commons">
            <a:extLst>
              <a:ext uri="{FF2B5EF4-FFF2-40B4-BE49-F238E27FC236}">
                <a16:creationId xmlns:a16="http://schemas.microsoft.com/office/drawing/2014/main" id="{10310124-0838-BB23-AF22-6A7D5EC95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538" y="3192192"/>
            <a:ext cx="3164204" cy="580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4K necesita limpieza antes del análisis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1547949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312258" y="1318043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</a:t>
            </a:r>
            <a:endParaRPr lang="es-CL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312258" y="1618489"/>
            <a:ext cx="3749040" cy="99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Ciencia de Datos, preprocesar video con ruido es obligatorio antes de cualquier modelo de IA.
</a:t>
            </a:r>
            <a:r>
              <a:rPr lang="es-CL" sz="13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básicos borronean la imagen y destruyen detalles clave para visión computacional.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228600" y="2828109"/>
            <a:ext cx="4114800" cy="1547949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312258" y="2971801"/>
            <a:ext cx="3764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NL-Means</a:t>
            </a:r>
            <a:endParaRPr lang="es-CL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312258" y="3284003"/>
            <a:ext cx="3764604" cy="99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NL-Means </a:t>
            </a: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patrones repetidos en la imagen para eliminar ruido sin destruir bordes ni texturas.
</a:t>
            </a:r>
            <a:r>
              <a:rPr lang="es-CL" sz="13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</a:t>
            </a: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industriales, médicos y de seguridad.</a:t>
            </a:r>
            <a:endParaRPr lang="es-C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228600" y="4709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comunes ✗  pierden detalle    |    NL-Means ✓  preserva bordes y texturas</a:t>
            </a:r>
            <a:endParaRPr lang="es-CL" sz="1000" noProof="0" dirty="0"/>
          </a:p>
        </p:txBody>
      </p:sp>
      <p:pic>
        <p:nvPicPr>
          <p:cNvPr id="13" name="Imagen 12" descr="NL-means drawbacks. | Download Scientific Diagram">
            <a:extLst>
              <a:ext uri="{FF2B5EF4-FFF2-40B4-BE49-F238E27FC236}">
                <a16:creationId xmlns:a16="http://schemas.microsoft.com/office/drawing/2014/main" id="{D94AE441-C08B-87D7-7B64-1E2C0E54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281" y="1394326"/>
            <a:ext cx="4286250" cy="2802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9D0D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NL-Means y qué se paraleliza?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1605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NL-Means (versión simple)</a:t>
            </a:r>
            <a:endParaRPr lang="es-CL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901952"/>
            <a:ext cx="292608" cy="292608"/>
          </a:xfrm>
          <a:prstGeom prst="ellipse">
            <a:avLst/>
          </a:prstGeom>
          <a:solidFill>
            <a:srgbClr val="39D0D8">
              <a:alpha val="40000"/>
            </a:srgbClr>
          </a:solidFill>
          <a:ln w="12700">
            <a:solidFill>
              <a:srgbClr val="39D0D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190195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píxel con ruido</a:t>
            </a:r>
            <a:endParaRPr lang="es-CL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elige un píxel de la imagen que quiere limpiar.</a:t>
            </a:r>
            <a:endParaRPr lang="es-CL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384048" y="2596896"/>
            <a:ext cx="292608" cy="292608"/>
          </a:xfrm>
          <a:prstGeom prst="ellipse">
            <a:avLst/>
          </a:prstGeom>
          <a:solidFill>
            <a:srgbClr val="39D0D8">
              <a:alpha val="40000"/>
            </a:srgbClr>
          </a:solidFill>
          <a:ln w="12700">
            <a:solidFill>
              <a:srgbClr val="39D0D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384048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" y="2596896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píxeles similares</a:t>
            </a:r>
            <a:endParaRPr lang="es-CL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749808" y="279806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TODA la imagen buscando parches (grupos de píxeles) con textura parecida.</a:t>
            </a:r>
            <a:endParaRPr lang="es-CL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384048" y="3291840"/>
            <a:ext cx="292608" cy="292608"/>
          </a:xfrm>
          <a:prstGeom prst="ellipse">
            <a:avLst/>
          </a:prstGeom>
          <a:solidFill>
            <a:srgbClr val="39D0D8">
              <a:alpha val="40000"/>
            </a:srgbClr>
          </a:solidFill>
          <a:ln w="12700">
            <a:solidFill>
              <a:srgbClr val="39D0D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384048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749808" y="32918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un promedio ponderado</a:t>
            </a:r>
            <a:endParaRPr lang="es-CL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349300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píxeles más similares pesan más. El resultado es el valor limpio del píxel.</a:t>
            </a:r>
            <a:endParaRPr lang="es-C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384048" y="3986784"/>
            <a:ext cx="292608" cy="292608"/>
          </a:xfrm>
          <a:prstGeom prst="ellipse">
            <a:avLst/>
          </a:prstGeom>
          <a:solidFill>
            <a:srgbClr val="39D0D8">
              <a:alpha val="40000"/>
            </a:srgbClr>
          </a:solidFill>
          <a:ln w="12700">
            <a:solidFill>
              <a:srgbClr val="39D0D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384048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749808" y="3986784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para cada píxel</a:t>
            </a:r>
            <a:endParaRPr lang="es-CL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749808" y="418795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lo mismo con cada uno de los millones de píxeles del fotograma.</a:t>
            </a:r>
            <a:endParaRPr lang="es-CL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4617720" y="1325880"/>
            <a:ext cx="42976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4800600" y="1353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puede paralelizar en GPU</a:t>
            </a:r>
            <a:endParaRPr lang="es-CL" sz="1300" noProof="0" dirty="0"/>
          </a:p>
        </p:txBody>
      </p:sp>
      <p:sp>
        <p:nvSpPr>
          <p:cNvPr id="25" name="Shape 23"/>
          <p:cNvSpPr/>
          <p:nvPr/>
        </p:nvSpPr>
        <p:spPr>
          <a:xfrm>
            <a:off x="4800600" y="1728216"/>
            <a:ext cx="3931920" cy="112471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4887468" y="173474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píxel es INDEPENDIENTE</a:t>
            </a:r>
            <a:endParaRPr lang="es-CL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4910328" y="1993392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el píxel (100, 50) no depende de limpiar el (101, 50).</a:t>
            </a:r>
            <a:r>
              <a:rPr lang="es-MX" sz="10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cálculo de cada píxel es 100% independiente, dividimos la imagen espacialmente. La GPU le asigna un hilo a cada píxel, resolviendo miles de operaciones matemáticas en el mismo instante, en lugar de iterar una por una.</a:t>
            </a:r>
            <a:endParaRPr lang="es-CL" sz="1000" noProof="0" dirty="0">
              <a:solidFill>
                <a:srgbClr val="F0F6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CL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480060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 (secuencial)</a:t>
            </a:r>
            <a:endParaRPr lang="es-CL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4800600" y="3172968"/>
            <a:ext cx="1234440" cy="365760"/>
          </a:xfrm>
          <a:prstGeom prst="rect">
            <a:avLst/>
          </a:prstGeom>
          <a:solidFill>
            <a:srgbClr val="F0883E">
              <a:alpha val="6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4800600" y="31729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 1</a:t>
            </a:r>
            <a:endParaRPr lang="es-CL" sz="900" noProof="0" dirty="0"/>
          </a:p>
        </p:txBody>
      </p:sp>
      <p:sp>
        <p:nvSpPr>
          <p:cNvPr id="31" name="Shape 29"/>
          <p:cNvSpPr/>
          <p:nvPr/>
        </p:nvSpPr>
        <p:spPr>
          <a:xfrm>
            <a:off x="6099048" y="3172968"/>
            <a:ext cx="1234440" cy="365760"/>
          </a:xfrm>
          <a:prstGeom prst="rect">
            <a:avLst/>
          </a:prstGeom>
          <a:solidFill>
            <a:srgbClr val="C8501A">
              <a:alpha val="6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/>
          <p:nvPr/>
        </p:nvSpPr>
        <p:spPr>
          <a:xfrm>
            <a:off x="6099048" y="31729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 2</a:t>
            </a:r>
            <a:endParaRPr lang="es-CL" sz="900" noProof="0" dirty="0"/>
          </a:p>
        </p:txBody>
      </p:sp>
      <p:sp>
        <p:nvSpPr>
          <p:cNvPr id="33" name="Shape 31"/>
          <p:cNvSpPr/>
          <p:nvPr/>
        </p:nvSpPr>
        <p:spPr>
          <a:xfrm>
            <a:off x="7397496" y="3172968"/>
            <a:ext cx="1234440" cy="365760"/>
          </a:xfrm>
          <a:prstGeom prst="rect">
            <a:avLst/>
          </a:prstGeom>
          <a:solidFill>
            <a:srgbClr val="AA3010">
              <a:alpha val="6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/>
          <p:nvPr/>
        </p:nvSpPr>
        <p:spPr>
          <a:xfrm>
            <a:off x="7397496" y="31729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 3 ...</a:t>
            </a:r>
            <a:endParaRPr lang="es-CL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480060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i="1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la vez → lento</a:t>
            </a:r>
            <a:endParaRPr lang="es-CL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4800600" y="3858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(paralelo — 1 hilo por píxel)</a:t>
            </a:r>
            <a:endParaRPr lang="es-CL" sz="1100" noProof="0" dirty="0"/>
          </a:p>
        </p:txBody>
      </p:sp>
      <p:sp>
        <p:nvSpPr>
          <p:cNvPr id="37" name="Shape 35"/>
          <p:cNvSpPr/>
          <p:nvPr/>
        </p:nvSpPr>
        <p:spPr>
          <a:xfrm>
            <a:off x="4800600" y="4187952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Text 36"/>
          <p:cNvSpPr/>
          <p:nvPr/>
        </p:nvSpPr>
        <p:spPr>
          <a:xfrm>
            <a:off x="4800600" y="41879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s-CL" sz="800" noProof="0" dirty="0"/>
          </a:p>
        </p:txBody>
      </p:sp>
      <p:sp>
        <p:nvSpPr>
          <p:cNvPr id="39" name="Shape 37"/>
          <p:cNvSpPr/>
          <p:nvPr/>
        </p:nvSpPr>
        <p:spPr>
          <a:xfrm>
            <a:off x="5760720" y="4187952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/>
          <p:nvPr/>
        </p:nvSpPr>
        <p:spPr>
          <a:xfrm>
            <a:off x="5760720" y="41879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s-CL" sz="800" noProof="0" dirty="0"/>
          </a:p>
        </p:txBody>
      </p:sp>
      <p:sp>
        <p:nvSpPr>
          <p:cNvPr id="41" name="Shape 39"/>
          <p:cNvSpPr/>
          <p:nvPr/>
        </p:nvSpPr>
        <p:spPr>
          <a:xfrm>
            <a:off x="6720840" y="4187952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40"/>
          <p:cNvSpPr/>
          <p:nvPr/>
        </p:nvSpPr>
        <p:spPr>
          <a:xfrm>
            <a:off x="6720840" y="41879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s-CL" sz="800" noProof="0" dirty="0"/>
          </a:p>
        </p:txBody>
      </p:sp>
      <p:sp>
        <p:nvSpPr>
          <p:cNvPr id="43" name="Shape 41"/>
          <p:cNvSpPr/>
          <p:nvPr/>
        </p:nvSpPr>
        <p:spPr>
          <a:xfrm>
            <a:off x="7680960" y="4187952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 42"/>
          <p:cNvSpPr/>
          <p:nvPr/>
        </p:nvSpPr>
        <p:spPr>
          <a:xfrm>
            <a:off x="7680960" y="4187952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s-CL" sz="800" noProof="0" dirty="0"/>
          </a:p>
        </p:txBody>
      </p:sp>
      <p:sp>
        <p:nvSpPr>
          <p:cNvPr id="45" name="Shape 43"/>
          <p:cNvSpPr/>
          <p:nvPr/>
        </p:nvSpPr>
        <p:spPr>
          <a:xfrm>
            <a:off x="4800600" y="4535424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Text 44"/>
          <p:cNvSpPr/>
          <p:nvPr/>
        </p:nvSpPr>
        <p:spPr>
          <a:xfrm>
            <a:off x="4800600" y="453542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s-CL" sz="800" noProof="0" dirty="0"/>
          </a:p>
        </p:txBody>
      </p:sp>
      <p:sp>
        <p:nvSpPr>
          <p:cNvPr id="47" name="Shape 45"/>
          <p:cNvSpPr/>
          <p:nvPr/>
        </p:nvSpPr>
        <p:spPr>
          <a:xfrm>
            <a:off x="5760720" y="4535424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/>
          <p:nvPr/>
        </p:nvSpPr>
        <p:spPr>
          <a:xfrm>
            <a:off x="5760720" y="453542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</a:t>
            </a:r>
            <a:endParaRPr lang="es-CL" sz="800" noProof="0" dirty="0"/>
          </a:p>
        </p:txBody>
      </p:sp>
      <p:sp>
        <p:nvSpPr>
          <p:cNvPr id="49" name="Shape 47"/>
          <p:cNvSpPr/>
          <p:nvPr/>
        </p:nvSpPr>
        <p:spPr>
          <a:xfrm>
            <a:off x="6720840" y="4535424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Text 48"/>
          <p:cNvSpPr/>
          <p:nvPr/>
        </p:nvSpPr>
        <p:spPr>
          <a:xfrm>
            <a:off x="6720840" y="453542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endParaRPr lang="es-CL" sz="800" noProof="0" dirty="0"/>
          </a:p>
        </p:txBody>
      </p:sp>
      <p:sp>
        <p:nvSpPr>
          <p:cNvPr id="51" name="Shape 49"/>
          <p:cNvSpPr/>
          <p:nvPr/>
        </p:nvSpPr>
        <p:spPr>
          <a:xfrm>
            <a:off x="7680960" y="4535424"/>
            <a:ext cx="896112" cy="292608"/>
          </a:xfrm>
          <a:prstGeom prst="rect">
            <a:avLst/>
          </a:prstGeom>
          <a:solidFill>
            <a:srgbClr val="3FB950">
              <a:alpha val="3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Text 50"/>
          <p:cNvSpPr/>
          <p:nvPr/>
        </p:nvSpPr>
        <p:spPr>
          <a:xfrm>
            <a:off x="7680960" y="453542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CPU no alcanza?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s-CL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píxeles / segundo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genera un video 4K a 60 </a:t>
            </a:r>
            <a:r>
              <a:rPr lang="es-CL" sz="1000" noProof="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imposible para un solo núcleo</a:t>
            </a:r>
            <a:endParaRPr lang="es-CL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172968" y="132588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264408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</a:t>
            </a:r>
            <a:endParaRPr lang="es-CL" sz="3600" noProof="0" dirty="0"/>
          </a:p>
        </p:txBody>
      </p:sp>
      <p:sp>
        <p:nvSpPr>
          <p:cNvPr id="11" name="Text 9"/>
          <p:cNvSpPr/>
          <p:nvPr/>
        </p:nvSpPr>
        <p:spPr>
          <a:xfrm>
            <a:off x="3264408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píxeles por fotograma</a:t>
            </a:r>
            <a:endParaRPr lang="es-CL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3264408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requiere millones de comparaciones en NL-Means</a:t>
            </a:r>
            <a:endParaRPr lang="es-CL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6117336" y="132588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6208776" y="15087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</a:t>
            </a:r>
            <a:endParaRPr lang="es-CL" sz="3600" noProof="0" dirty="0"/>
          </a:p>
          <a:p>
            <a:pPr marL="0" indent="0" algn="ctr">
              <a:buNone/>
            </a:pPr>
            <a:r>
              <a:rPr lang="es-CL" sz="36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endParaRPr lang="es-CL" sz="3600" noProof="0" dirty="0"/>
          </a:p>
        </p:txBody>
      </p:sp>
      <p:sp>
        <p:nvSpPr>
          <p:cNvPr id="15" name="Text 13"/>
          <p:cNvSpPr/>
          <p:nvPr/>
        </p:nvSpPr>
        <p:spPr>
          <a:xfrm>
            <a:off x="6208776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 la CPU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6208776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fotograma en modo secuencial — la GPU lo reduce drásticamente</a:t>
            </a:r>
            <a:endParaRPr lang="es-CL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228600" y="4206240"/>
            <a:ext cx="868680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magnitud del problema hace lento el procesamiento secuencial. Se requiere paralelización masiva en GPU.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queremos verificar?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86868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73152" cy="100584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s-CL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la viabilidad y el factor de aceleración (</a:t>
            </a:r>
            <a:r>
              <a:rPr lang="es-CL" sz="13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r>
              <a:rPr lang="es-CL" sz="13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 paralelizar NL-Means en GPU frente a la versión secuencial.</a:t>
            </a:r>
            <a:endParaRPr lang="es-CL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228600" y="251460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L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(CPU)</a:t>
            </a:r>
            <a:endParaRPr lang="es-CL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referencia secuencial en C++ para medir la latencia original del algoritmo sin paralelización.</a:t>
            </a:r>
            <a:endParaRPr lang="es-CL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3172968" y="251460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3310128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L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3310128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CUDA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3310128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 implementar NL-Means en NVIDIA CUDA distribuyendo la carga masivamente sobre la grilla de hilos GPU.</a:t>
            </a:r>
            <a:endParaRPr lang="es-CL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6117336" y="2514600"/>
            <a:ext cx="274320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6254496" y="26334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L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6254496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Memoria</a:t>
            </a:r>
            <a:endParaRPr lang="es-CL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254496" y="354787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</a:t>
            </a:r>
            <a:r>
              <a:rPr lang="es-CL" sz="1100" noProof="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y VRAM para reducir cuellos de botella en los accesos a memoria de la GPU.</a:t>
            </a:r>
            <a:endParaRPr lang="es-CL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9D0D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28600" y="151529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228600" y="380129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026088"/>
            <a:ext cx="2743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1188720" y="1117528"/>
            <a:ext cx="822960" cy="822960"/>
          </a:xfrm>
          <a:prstGeom prst="ellipse">
            <a:avLst/>
          </a:prstGeom>
          <a:solidFill>
            <a:srgbClr val="2F81F7">
              <a:alpha val="25000"/>
            </a:srgbClr>
          </a:solidFill>
          <a:ln w="12700">
            <a:solidFill>
              <a:srgbClr val="2F81F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117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s-CL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2031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</a:t>
            </a:r>
            <a:r>
              <a:rPr lang="es-CL" sz="1300" b="1" noProof="0" dirty="0" err="1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s-CL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2534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entrada/salida de video</a:t>
            </a:r>
            <a:endParaRPr lang="es-CL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3129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fotograma a fotograma</a:t>
            </a:r>
            <a:endParaRPr lang="es-CL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411480" y="3723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secuencial (Ground Truth) con NL-Means nativo de </a:t>
            </a:r>
            <a:r>
              <a:rPr lang="es-CL" sz="11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s-CL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6229677" y="1026088"/>
            <a:ext cx="27432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7189797" y="1117528"/>
            <a:ext cx="822960" cy="822960"/>
          </a:xfrm>
          <a:prstGeom prst="ellipse">
            <a:avLst/>
          </a:prstGeom>
          <a:solidFill>
            <a:srgbClr val="39D0D8">
              <a:alpha val="25000"/>
            </a:srgbClr>
          </a:solidFill>
          <a:ln w="12700">
            <a:solidFill>
              <a:srgbClr val="39D0D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7189797" y="11175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s-CL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6366837" y="2031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CUDA </a:t>
            </a:r>
            <a:r>
              <a:rPr lang="es-CL" sz="1300" b="1" noProof="0" dirty="0" err="1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s-CL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6412557" y="25348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Paralelización masiva sobre CUDA </a:t>
            </a:r>
            <a:r>
              <a:rPr lang="es-CL" sz="11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s-CL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6412557" y="3129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grilla de ejecución (bloques e hilos)</a:t>
            </a:r>
            <a:endParaRPr lang="es-CL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6412557" y="3723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</a:t>
            </a:r>
            <a:r>
              <a:rPr lang="es-CL" sz="1100" noProof="0" dirty="0" err="1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 para reducir latencia VRAM</a:t>
            </a:r>
            <a:endParaRPr lang="es-CL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228600" y="4770557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 Video con Ruido  →  CPU/</a:t>
            </a:r>
            <a:r>
              <a:rPr lang="es-CL" sz="1000" noProof="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r>
              <a:rPr lang="es-CL" sz="10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(extracción)  →  CUDA GPU (NL-Means paralelo)  →  Video Limpio</a:t>
            </a:r>
            <a:endParaRPr lang="es-CL" sz="1000" noProof="0" dirty="0"/>
          </a:p>
        </p:txBody>
      </p:sp>
      <p:pic>
        <p:nvPicPr>
          <p:cNvPr id="27" name="Imagen 26" descr="Nvidia Cuda Programming C++ Gpu What Is The CUDA Programming Model? GPU  Glossary">
            <a:extLst>
              <a:ext uri="{FF2B5EF4-FFF2-40B4-BE49-F238E27FC236}">
                <a16:creationId xmlns:a16="http://schemas.microsoft.com/office/drawing/2014/main" id="{45789E9F-F1D4-1129-9A7B-0FF7D7FEE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65" y="1335976"/>
            <a:ext cx="2471547" cy="2471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00" b="1" kern="0" spc="300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&amp; MÉTRICAS</a:t>
            </a:r>
            <a:endParaRPr lang="es-CL" sz="9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b="1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Técnicos y Cómo Medimos el Éxito</a:t>
            </a:r>
            <a:endParaRPr lang="es-CL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420624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Riesgos Principales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SIMT  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hilos ejecutando la misma instrucción simultáneamente — requiere descomposición 2D cuidadosa.</a:t>
            </a:r>
            <a:endParaRPr lang="es-CL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Coalescencia de Memoria  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de acceso a VRAM puede anular la ganancia paralela sin </a:t>
            </a:r>
            <a:r>
              <a:rPr lang="es-CL" sz="1100" noProof="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Memory.</a:t>
            </a:r>
            <a:endParaRPr lang="es-CL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PCIe  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matrices 4K de RAM a VRAM puede ser el mayor cuello de botella.</a:t>
            </a:r>
            <a:endParaRPr lang="es-CL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4251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VRAM (8 GB)  </a:t>
            </a:r>
            <a:r>
              <a:rPr lang="es-CL" sz="1100" noProof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cargar el video completo; obliga a procesar fotograma a fotograma.</a:t>
            </a:r>
            <a:endParaRPr lang="es-CL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2519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484632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2F8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Validación</a:t>
            </a:r>
            <a:endParaRPr lang="es-CL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9319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F81F7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 err="1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r>
              <a:rPr lang="es-CL" sz="12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CL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983480" y="2395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el tiempo secuencial vs. el tiempo paralelo para calcular el factor de aceleración real obtenido.</a:t>
            </a:r>
            <a:endParaRPr lang="es-CL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3337560"/>
            <a:ext cx="39319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D8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498348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por Fotograma</a:t>
            </a:r>
            <a:endParaRPr lang="es-CL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983480" y="38221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cuánto tarda GPU vs CPU por fotograma y calcular el </a:t>
            </a:r>
            <a:r>
              <a:rPr lang="es-CL" sz="1100" b="1" noProof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aceleración real</a:t>
            </a:r>
            <a:r>
              <a:rPr lang="es-CL" sz="1100" noProof="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obtenido con la paralelización.</a:t>
            </a:r>
            <a:endParaRPr lang="es-CL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739</Words>
  <Application>Microsoft Office PowerPoint</Application>
  <PresentationFormat>Presentación en pantalla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Paralelización Masiva en GPU – Anteproyecto</dc:title>
  <dc:subject>PptxGenJS Presentation</dc:subject>
  <dc:creator>Diego Silva / Pablo Ibañez</dc:creator>
  <cp:lastModifiedBy>DIEGO ERNESTO SILVA MADARIAGA</cp:lastModifiedBy>
  <cp:revision>14</cp:revision>
  <dcterms:created xsi:type="dcterms:W3CDTF">2026-05-27T22:12:11Z</dcterms:created>
  <dcterms:modified xsi:type="dcterms:W3CDTF">2026-05-27T23:48:21Z</dcterms:modified>
</cp:coreProperties>
</file>